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Pattanakarn" charset="1" panose="00000000000000000000"/>
      <p:regular r:id="rId16"/>
    </p:embeddedFont>
    <p:embeddedFont>
      <p:font typeface="Tomorrow Bold" charset="1" panose="00000000000000000000"/>
      <p:regular r:id="rId17"/>
    </p:embeddedFont>
    <p:embeddedFont>
      <p:font typeface="Times New Roman" charset="1" panose="02020603050405020304"/>
      <p:regular r:id="rId18"/>
    </p:embeddedFont>
    <p:embeddedFont>
      <p:font typeface="Pattanakarn Bold" charset="1" panose="00000000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 Id="rId9" Target="../media/image16.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7.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18.png" Type="http://schemas.openxmlformats.org/officeDocument/2006/relationships/image"/><Relationship Id="rId4" Target="../media/image19.svg" Type="http://schemas.openxmlformats.org/officeDocument/2006/relationships/image"/><Relationship Id="rId5" Target="../media/image20.png" Type="http://schemas.openxmlformats.org/officeDocument/2006/relationships/image"/><Relationship Id="rId6" Target="../media/image21.svg" Type="http://schemas.openxmlformats.org/officeDocument/2006/relationships/image"/><Relationship Id="rId7" Target="../media/image14.png" Type="http://schemas.openxmlformats.org/officeDocument/2006/relationships/image"/><Relationship Id="rId8" Target="../media/image15.svg" Type="http://schemas.openxmlformats.org/officeDocument/2006/relationships/image"/><Relationship Id="rId9" Target="../media/image2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3.png" Type="http://schemas.openxmlformats.org/officeDocument/2006/relationships/image"/><Relationship Id="rId5" Target="../media/image24.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25.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26.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27.png" Type="http://schemas.openxmlformats.org/officeDocument/2006/relationships/image"/><Relationship Id="rId6" Target="../media/image28.svg" Type="http://schemas.openxmlformats.org/officeDocument/2006/relationships/image"/><Relationship Id="rId7" Target="../media/image2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385E"/>
        </a:solidFill>
      </p:bgPr>
    </p:bg>
    <p:spTree>
      <p:nvGrpSpPr>
        <p:cNvPr id="1" name=""/>
        <p:cNvGrpSpPr/>
        <p:nvPr/>
      </p:nvGrpSpPr>
      <p:grpSpPr>
        <a:xfrm>
          <a:off x="0" y="0"/>
          <a:ext cx="0" cy="0"/>
          <a:chOff x="0" y="0"/>
          <a:chExt cx="0" cy="0"/>
        </a:xfrm>
      </p:grpSpPr>
      <p:sp>
        <p:nvSpPr>
          <p:cNvPr name="Freeform 2" id="2"/>
          <p:cNvSpPr/>
          <p:nvPr/>
        </p:nvSpPr>
        <p:spPr>
          <a:xfrm flipH="false" flipV="false" rot="0">
            <a:off x="14940925" y="6906473"/>
            <a:ext cx="4045796" cy="4151469"/>
          </a:xfrm>
          <a:custGeom>
            <a:avLst/>
            <a:gdLst/>
            <a:ahLst/>
            <a:cxnLst/>
            <a:rect r="r" b="b" t="t" l="l"/>
            <a:pathLst>
              <a:path h="4151469" w="4045796">
                <a:moveTo>
                  <a:pt x="0" y="0"/>
                </a:moveTo>
                <a:lnTo>
                  <a:pt x="4045796" y="0"/>
                </a:lnTo>
                <a:lnTo>
                  <a:pt x="4045796" y="4151469"/>
                </a:lnTo>
                <a:lnTo>
                  <a:pt x="0" y="4151469"/>
                </a:lnTo>
                <a:lnTo>
                  <a:pt x="0" y="0"/>
                </a:lnTo>
                <a:close/>
              </a:path>
            </a:pathLst>
          </a:custGeom>
          <a:blipFill>
            <a:blip r:embed="rId2">
              <a:alphaModFix amt="34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9397396" y="5717887"/>
            <a:ext cx="6134483" cy="1819136"/>
            <a:chOff x="0" y="0"/>
            <a:chExt cx="1615666" cy="479114"/>
          </a:xfrm>
        </p:grpSpPr>
        <p:sp>
          <p:nvSpPr>
            <p:cNvPr name="Freeform 4" id="4"/>
            <p:cNvSpPr/>
            <p:nvPr/>
          </p:nvSpPr>
          <p:spPr>
            <a:xfrm flipH="false" flipV="false" rot="0">
              <a:off x="0" y="0"/>
              <a:ext cx="1615666" cy="479114"/>
            </a:xfrm>
            <a:custGeom>
              <a:avLst/>
              <a:gdLst/>
              <a:ahLst/>
              <a:cxnLst/>
              <a:rect r="r" b="b" t="t" l="l"/>
              <a:pathLst>
                <a:path h="479114" w="1615666">
                  <a:moveTo>
                    <a:pt x="93390" y="0"/>
                  </a:moveTo>
                  <a:lnTo>
                    <a:pt x="1522276" y="0"/>
                  </a:lnTo>
                  <a:cubicBezTo>
                    <a:pt x="1573854" y="0"/>
                    <a:pt x="1615666" y="41812"/>
                    <a:pt x="1615666" y="93390"/>
                  </a:cubicBezTo>
                  <a:lnTo>
                    <a:pt x="1615666" y="385724"/>
                  </a:lnTo>
                  <a:cubicBezTo>
                    <a:pt x="1615666" y="410492"/>
                    <a:pt x="1605827" y="434247"/>
                    <a:pt x="1588313" y="451761"/>
                  </a:cubicBezTo>
                  <a:cubicBezTo>
                    <a:pt x="1570799" y="469275"/>
                    <a:pt x="1547045" y="479114"/>
                    <a:pt x="1522276" y="479114"/>
                  </a:cubicBezTo>
                  <a:lnTo>
                    <a:pt x="93390" y="479114"/>
                  </a:lnTo>
                  <a:cubicBezTo>
                    <a:pt x="68622" y="479114"/>
                    <a:pt x="44868" y="469275"/>
                    <a:pt x="27353" y="451761"/>
                  </a:cubicBezTo>
                  <a:cubicBezTo>
                    <a:pt x="9839" y="434247"/>
                    <a:pt x="0" y="410492"/>
                    <a:pt x="0" y="385724"/>
                  </a:cubicBezTo>
                  <a:lnTo>
                    <a:pt x="0" y="93390"/>
                  </a:lnTo>
                  <a:cubicBezTo>
                    <a:pt x="0" y="68622"/>
                    <a:pt x="9839" y="44868"/>
                    <a:pt x="27353" y="27353"/>
                  </a:cubicBezTo>
                  <a:cubicBezTo>
                    <a:pt x="44868" y="9839"/>
                    <a:pt x="68622" y="0"/>
                    <a:pt x="93390" y="0"/>
                  </a:cubicBezTo>
                  <a:close/>
                </a:path>
              </a:pathLst>
            </a:custGeom>
            <a:solidFill>
              <a:srgbClr val="00385E"/>
            </a:solidFill>
            <a:ln w="47625" cap="rnd">
              <a:solidFill>
                <a:srgbClr val="FFFFFF"/>
              </a:solidFill>
              <a:prstDash val="solid"/>
              <a:round/>
            </a:ln>
          </p:spPr>
        </p:sp>
        <p:sp>
          <p:nvSpPr>
            <p:cNvPr name="TextBox 5" id="5"/>
            <p:cNvSpPr txBox="true"/>
            <p:nvPr/>
          </p:nvSpPr>
          <p:spPr>
            <a:xfrm>
              <a:off x="0" y="-47625"/>
              <a:ext cx="1615666" cy="526739"/>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7818770" y="1740074"/>
            <a:ext cx="6673043" cy="1366177"/>
          </a:xfrm>
          <a:prstGeom prst="rect">
            <a:avLst/>
          </a:prstGeom>
        </p:spPr>
        <p:txBody>
          <a:bodyPr anchor="t" rtlCol="false" tIns="0" lIns="0" bIns="0" rIns="0">
            <a:spAutoFit/>
          </a:bodyPr>
          <a:lstStyle/>
          <a:p>
            <a:pPr algn="l">
              <a:lnSpc>
                <a:spcPts val="5548"/>
              </a:lnSpc>
            </a:pPr>
            <a:r>
              <a:rPr lang="en-US" sz="3963" spc="1506">
                <a:solidFill>
                  <a:srgbClr val="FFFFFF"/>
                </a:solidFill>
                <a:latin typeface="Pattanakarn"/>
                <a:ea typeface="Pattanakarn"/>
                <a:cs typeface="Pattanakarn"/>
                <a:sym typeface="Pattanakarn"/>
              </a:rPr>
              <a:t>Algoritma Dan Pemrograman</a:t>
            </a:r>
          </a:p>
        </p:txBody>
      </p:sp>
      <p:sp>
        <p:nvSpPr>
          <p:cNvPr name="TextBox 7" id="7"/>
          <p:cNvSpPr txBox="true"/>
          <p:nvPr/>
        </p:nvSpPr>
        <p:spPr>
          <a:xfrm rot="0">
            <a:off x="7818770" y="3452361"/>
            <a:ext cx="9985006" cy="1179677"/>
          </a:xfrm>
          <a:prstGeom prst="rect">
            <a:avLst/>
          </a:prstGeom>
        </p:spPr>
        <p:txBody>
          <a:bodyPr anchor="t" rtlCol="false" tIns="0" lIns="0" bIns="0" rIns="0">
            <a:spAutoFit/>
          </a:bodyPr>
          <a:lstStyle/>
          <a:p>
            <a:pPr algn="ctr">
              <a:lnSpc>
                <a:spcPts val="8838"/>
              </a:lnSpc>
            </a:pPr>
            <a:r>
              <a:rPr lang="en-US" b="true" sz="8838" spc="1838">
                <a:solidFill>
                  <a:srgbClr val="FFFFFF"/>
                </a:solidFill>
                <a:latin typeface="Tomorrow Bold"/>
                <a:ea typeface="Tomorrow Bold"/>
                <a:cs typeface="Tomorrow Bold"/>
                <a:sym typeface="Tomorrow Bold"/>
              </a:rPr>
              <a:t>Looping + If</a:t>
            </a:r>
          </a:p>
        </p:txBody>
      </p:sp>
      <p:sp>
        <p:nvSpPr>
          <p:cNvPr name="Freeform 8" id="8"/>
          <p:cNvSpPr/>
          <p:nvPr/>
        </p:nvSpPr>
        <p:spPr>
          <a:xfrm flipH="false" flipV="false" rot="0">
            <a:off x="14274765" y="-1387091"/>
            <a:ext cx="4270075" cy="4114800"/>
          </a:xfrm>
          <a:custGeom>
            <a:avLst/>
            <a:gdLst/>
            <a:ahLst/>
            <a:cxnLst/>
            <a:rect r="r" b="b" t="t" l="l"/>
            <a:pathLst>
              <a:path h="4114800" w="4270075">
                <a:moveTo>
                  <a:pt x="0" y="0"/>
                </a:moveTo>
                <a:lnTo>
                  <a:pt x="4270076" y="0"/>
                </a:lnTo>
                <a:lnTo>
                  <a:pt x="4270076" y="4114800"/>
                </a:lnTo>
                <a:lnTo>
                  <a:pt x="0" y="4114800"/>
                </a:lnTo>
                <a:lnTo>
                  <a:pt x="0" y="0"/>
                </a:lnTo>
                <a:close/>
              </a:path>
            </a:pathLst>
          </a:custGeom>
          <a:blipFill>
            <a:blip r:embed="rId4">
              <a:alphaModFix amt="44999"/>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6301309">
            <a:off x="14991254" y="-778904"/>
            <a:ext cx="4536092" cy="2359787"/>
          </a:xfrm>
          <a:custGeom>
            <a:avLst/>
            <a:gdLst/>
            <a:ahLst/>
            <a:cxnLst/>
            <a:rect r="r" b="b" t="t" l="l"/>
            <a:pathLst>
              <a:path h="2359787" w="4536092">
                <a:moveTo>
                  <a:pt x="0" y="0"/>
                </a:moveTo>
                <a:lnTo>
                  <a:pt x="4536092" y="0"/>
                </a:lnTo>
                <a:lnTo>
                  <a:pt x="4536092" y="2359787"/>
                </a:lnTo>
                <a:lnTo>
                  <a:pt x="0" y="235978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5992063" y="7598893"/>
            <a:ext cx="2339797" cy="1501724"/>
          </a:xfrm>
          <a:custGeom>
            <a:avLst/>
            <a:gdLst/>
            <a:ahLst/>
            <a:cxnLst/>
            <a:rect r="r" b="b" t="t" l="l"/>
            <a:pathLst>
              <a:path h="1501724" w="2339797">
                <a:moveTo>
                  <a:pt x="0" y="0"/>
                </a:moveTo>
                <a:lnTo>
                  <a:pt x="2339796" y="0"/>
                </a:lnTo>
                <a:lnTo>
                  <a:pt x="2339796" y="1501724"/>
                </a:lnTo>
                <a:lnTo>
                  <a:pt x="0" y="1501724"/>
                </a:lnTo>
                <a:lnTo>
                  <a:pt x="0" y="0"/>
                </a:lnTo>
                <a:close/>
              </a:path>
            </a:pathLst>
          </a:custGeom>
          <a:blipFill>
            <a:blip r:embed="rId8"/>
            <a:stretch>
              <a:fillRect l="0" t="0" r="0" b="0"/>
            </a:stretch>
          </a:blipFill>
        </p:spPr>
      </p:sp>
      <p:sp>
        <p:nvSpPr>
          <p:cNvPr name="Freeform 11" id="11"/>
          <p:cNvSpPr/>
          <p:nvPr/>
        </p:nvSpPr>
        <p:spPr>
          <a:xfrm flipH="false" flipV="false" rot="0">
            <a:off x="6584944" y="7717303"/>
            <a:ext cx="1264905" cy="1264905"/>
          </a:xfrm>
          <a:custGeom>
            <a:avLst/>
            <a:gdLst/>
            <a:ahLst/>
            <a:cxnLst/>
            <a:rect r="r" b="b" t="t" l="l"/>
            <a:pathLst>
              <a:path h="1264905" w="1264905">
                <a:moveTo>
                  <a:pt x="0" y="0"/>
                </a:moveTo>
                <a:lnTo>
                  <a:pt x="1264905" y="0"/>
                </a:lnTo>
                <a:lnTo>
                  <a:pt x="1264905" y="1264905"/>
                </a:lnTo>
                <a:lnTo>
                  <a:pt x="0" y="126490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2" id="12"/>
          <p:cNvSpPr/>
          <p:nvPr/>
        </p:nvSpPr>
        <p:spPr>
          <a:xfrm flipH="false" flipV="false" rot="0">
            <a:off x="492747" y="2109850"/>
            <a:ext cx="3326385" cy="2134934"/>
          </a:xfrm>
          <a:custGeom>
            <a:avLst/>
            <a:gdLst/>
            <a:ahLst/>
            <a:cxnLst/>
            <a:rect r="r" b="b" t="t" l="l"/>
            <a:pathLst>
              <a:path h="2134934" w="3326385">
                <a:moveTo>
                  <a:pt x="0" y="0"/>
                </a:moveTo>
                <a:lnTo>
                  <a:pt x="3326384" y="0"/>
                </a:lnTo>
                <a:lnTo>
                  <a:pt x="3326384" y="2134934"/>
                </a:lnTo>
                <a:lnTo>
                  <a:pt x="0" y="2134934"/>
                </a:lnTo>
                <a:lnTo>
                  <a:pt x="0" y="0"/>
                </a:lnTo>
                <a:close/>
              </a:path>
            </a:pathLst>
          </a:custGeom>
          <a:blipFill>
            <a:blip r:embed="rId8"/>
            <a:stretch>
              <a:fillRect l="0" t="0" r="0" b="0"/>
            </a:stretch>
          </a:blipFill>
        </p:spPr>
      </p:sp>
      <p:sp>
        <p:nvSpPr>
          <p:cNvPr name="TextBox 13" id="13"/>
          <p:cNvSpPr txBox="true"/>
          <p:nvPr/>
        </p:nvSpPr>
        <p:spPr>
          <a:xfrm rot="0">
            <a:off x="802431" y="2692489"/>
            <a:ext cx="2707015" cy="874406"/>
          </a:xfrm>
          <a:prstGeom prst="rect">
            <a:avLst/>
          </a:prstGeom>
        </p:spPr>
        <p:txBody>
          <a:bodyPr anchor="t" rtlCol="false" tIns="0" lIns="0" bIns="0" rIns="0">
            <a:spAutoFit/>
          </a:bodyPr>
          <a:lstStyle/>
          <a:p>
            <a:pPr algn="ctr">
              <a:lnSpc>
                <a:spcPts val="7193"/>
              </a:lnSpc>
            </a:pPr>
            <a:r>
              <a:rPr lang="en-US" sz="5138">
                <a:solidFill>
                  <a:srgbClr val="FFFFFF"/>
                </a:solidFill>
                <a:latin typeface="Pattanakarn"/>
                <a:ea typeface="Pattanakarn"/>
                <a:cs typeface="Pattanakarn"/>
                <a:sym typeface="Pattanakarn"/>
              </a:rPr>
              <a:t>Python</a:t>
            </a:r>
          </a:p>
        </p:txBody>
      </p:sp>
      <p:sp>
        <p:nvSpPr>
          <p:cNvPr name="Freeform 14" id="14"/>
          <p:cNvSpPr/>
          <p:nvPr/>
        </p:nvSpPr>
        <p:spPr>
          <a:xfrm flipH="false" flipV="false" rot="0">
            <a:off x="5131749" y="3469615"/>
            <a:ext cx="2415540" cy="1550338"/>
          </a:xfrm>
          <a:custGeom>
            <a:avLst/>
            <a:gdLst/>
            <a:ahLst/>
            <a:cxnLst/>
            <a:rect r="r" b="b" t="t" l="l"/>
            <a:pathLst>
              <a:path h="1550338" w="2415540">
                <a:moveTo>
                  <a:pt x="0" y="0"/>
                </a:moveTo>
                <a:lnTo>
                  <a:pt x="2415541" y="0"/>
                </a:lnTo>
                <a:lnTo>
                  <a:pt x="2415541" y="1550338"/>
                </a:lnTo>
                <a:lnTo>
                  <a:pt x="0" y="1550338"/>
                </a:lnTo>
                <a:lnTo>
                  <a:pt x="0" y="0"/>
                </a:lnTo>
                <a:close/>
              </a:path>
            </a:pathLst>
          </a:custGeom>
          <a:blipFill>
            <a:blip r:embed="rId8"/>
            <a:stretch>
              <a:fillRect l="0" t="0" r="0" b="0"/>
            </a:stretch>
          </a:blipFill>
        </p:spPr>
      </p:sp>
      <p:sp>
        <p:nvSpPr>
          <p:cNvPr name="Freeform 15" id="15"/>
          <p:cNvSpPr/>
          <p:nvPr/>
        </p:nvSpPr>
        <p:spPr>
          <a:xfrm flipH="false" flipV="false" rot="0">
            <a:off x="5869781" y="3570976"/>
            <a:ext cx="1347615" cy="1347615"/>
          </a:xfrm>
          <a:custGeom>
            <a:avLst/>
            <a:gdLst/>
            <a:ahLst/>
            <a:cxnLst/>
            <a:rect r="r" b="b" t="t" l="l"/>
            <a:pathLst>
              <a:path h="1347615" w="1347615">
                <a:moveTo>
                  <a:pt x="0" y="0"/>
                </a:moveTo>
                <a:lnTo>
                  <a:pt x="1347616" y="0"/>
                </a:lnTo>
                <a:lnTo>
                  <a:pt x="1347616" y="1347616"/>
                </a:lnTo>
                <a:lnTo>
                  <a:pt x="0" y="134761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6" id="16"/>
          <p:cNvSpPr/>
          <p:nvPr/>
        </p:nvSpPr>
        <p:spPr>
          <a:xfrm flipH="false" flipV="false" rot="0">
            <a:off x="492747" y="2270424"/>
            <a:ext cx="7591376" cy="8016576"/>
          </a:xfrm>
          <a:custGeom>
            <a:avLst/>
            <a:gdLst/>
            <a:ahLst/>
            <a:cxnLst/>
            <a:rect r="r" b="b" t="t" l="l"/>
            <a:pathLst>
              <a:path h="8016576" w="7591376">
                <a:moveTo>
                  <a:pt x="0" y="0"/>
                </a:moveTo>
                <a:lnTo>
                  <a:pt x="7591376" y="0"/>
                </a:lnTo>
                <a:lnTo>
                  <a:pt x="7591376" y="8016576"/>
                </a:lnTo>
                <a:lnTo>
                  <a:pt x="0" y="8016576"/>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17" id="17"/>
          <p:cNvSpPr txBox="true"/>
          <p:nvPr/>
        </p:nvSpPr>
        <p:spPr>
          <a:xfrm rot="0">
            <a:off x="9397396" y="5932962"/>
            <a:ext cx="6116596" cy="1322312"/>
          </a:xfrm>
          <a:prstGeom prst="rect">
            <a:avLst/>
          </a:prstGeom>
        </p:spPr>
        <p:txBody>
          <a:bodyPr anchor="t" rtlCol="false" tIns="0" lIns="0" bIns="0" rIns="0">
            <a:spAutoFit/>
          </a:bodyPr>
          <a:lstStyle/>
          <a:p>
            <a:pPr algn="ctr">
              <a:lnSpc>
                <a:spcPts val="5341"/>
              </a:lnSpc>
            </a:pPr>
            <a:r>
              <a:rPr lang="en-US" sz="3815" spc="80">
                <a:solidFill>
                  <a:srgbClr val="FFFFFF"/>
                </a:solidFill>
                <a:latin typeface="Pattanakarn"/>
                <a:ea typeface="Pattanakarn"/>
                <a:cs typeface="Pattanakarn"/>
                <a:sym typeface="Pattanakarn"/>
              </a:rPr>
              <a:t>Ghazawan</a:t>
            </a:r>
          </a:p>
          <a:p>
            <a:pPr algn="ctr">
              <a:lnSpc>
                <a:spcPts val="5341"/>
              </a:lnSpc>
            </a:pPr>
            <a:r>
              <a:rPr lang="en-US" sz="3815" spc="80">
                <a:solidFill>
                  <a:srgbClr val="FFFFFF"/>
                </a:solidFill>
                <a:latin typeface="Pattanakarn"/>
                <a:ea typeface="Pattanakarn"/>
                <a:cs typeface="Pattanakarn"/>
                <a:sym typeface="Pattanakarn"/>
              </a:rPr>
              <a:t>Surya</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0385E"/>
        </a:solidFill>
      </p:bgPr>
    </p:bg>
    <p:spTree>
      <p:nvGrpSpPr>
        <p:cNvPr id="1" name=""/>
        <p:cNvGrpSpPr/>
        <p:nvPr/>
      </p:nvGrpSpPr>
      <p:grpSpPr>
        <a:xfrm>
          <a:off x="0" y="0"/>
          <a:ext cx="0" cy="0"/>
          <a:chOff x="0" y="0"/>
          <a:chExt cx="0" cy="0"/>
        </a:xfrm>
      </p:grpSpPr>
      <p:sp>
        <p:nvSpPr>
          <p:cNvPr name="Freeform 2" id="2"/>
          <p:cNvSpPr/>
          <p:nvPr/>
        </p:nvSpPr>
        <p:spPr>
          <a:xfrm flipH="false" flipV="false" rot="0">
            <a:off x="11511093" y="400990"/>
            <a:ext cx="5043482" cy="5175215"/>
          </a:xfrm>
          <a:custGeom>
            <a:avLst/>
            <a:gdLst/>
            <a:ahLst/>
            <a:cxnLst/>
            <a:rect r="r" b="b" t="t" l="l"/>
            <a:pathLst>
              <a:path h="5175215" w="5043482">
                <a:moveTo>
                  <a:pt x="0" y="0"/>
                </a:moveTo>
                <a:lnTo>
                  <a:pt x="5043482" y="0"/>
                </a:lnTo>
                <a:lnTo>
                  <a:pt x="5043482" y="5175215"/>
                </a:lnTo>
                <a:lnTo>
                  <a:pt x="0" y="5175215"/>
                </a:lnTo>
                <a:lnTo>
                  <a:pt x="0" y="0"/>
                </a:lnTo>
                <a:close/>
              </a:path>
            </a:pathLst>
          </a:custGeom>
          <a:blipFill>
            <a:blip r:embed="rId2">
              <a:alphaModFix amt="12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858396" y="160971"/>
            <a:ext cx="15526296" cy="9965059"/>
          </a:xfrm>
          <a:custGeom>
            <a:avLst/>
            <a:gdLst/>
            <a:ahLst/>
            <a:cxnLst/>
            <a:rect r="r" b="b" t="t" l="l"/>
            <a:pathLst>
              <a:path h="9965059" w="15526296">
                <a:moveTo>
                  <a:pt x="0" y="0"/>
                </a:moveTo>
                <a:lnTo>
                  <a:pt x="15526296" y="0"/>
                </a:lnTo>
                <a:lnTo>
                  <a:pt x="15526296" y="9965058"/>
                </a:lnTo>
                <a:lnTo>
                  <a:pt x="0" y="9965058"/>
                </a:lnTo>
                <a:lnTo>
                  <a:pt x="0" y="0"/>
                </a:lnTo>
                <a:close/>
              </a:path>
            </a:pathLst>
          </a:custGeom>
          <a:blipFill>
            <a:blip r:embed="rId4"/>
            <a:stretch>
              <a:fillRect l="0" t="0" r="0" b="0"/>
            </a:stretch>
          </a:blipFill>
        </p:spPr>
      </p:sp>
      <p:sp>
        <p:nvSpPr>
          <p:cNvPr name="Freeform 4" id="4"/>
          <p:cNvSpPr/>
          <p:nvPr/>
        </p:nvSpPr>
        <p:spPr>
          <a:xfrm flipH="true" flipV="true" rot="8633086">
            <a:off x="14991254" y="8506824"/>
            <a:ext cx="4536092" cy="2359787"/>
          </a:xfrm>
          <a:custGeom>
            <a:avLst/>
            <a:gdLst/>
            <a:ahLst/>
            <a:cxnLst/>
            <a:rect r="r" b="b" t="t" l="l"/>
            <a:pathLst>
              <a:path h="2359787" w="4536092">
                <a:moveTo>
                  <a:pt x="4536092" y="2359787"/>
                </a:moveTo>
                <a:lnTo>
                  <a:pt x="0" y="2359787"/>
                </a:lnTo>
                <a:lnTo>
                  <a:pt x="0" y="0"/>
                </a:lnTo>
                <a:lnTo>
                  <a:pt x="4536092" y="0"/>
                </a:lnTo>
                <a:lnTo>
                  <a:pt x="4536092" y="2359787"/>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6301309">
            <a:off x="14991254" y="-778904"/>
            <a:ext cx="4536092" cy="2359787"/>
          </a:xfrm>
          <a:custGeom>
            <a:avLst/>
            <a:gdLst/>
            <a:ahLst/>
            <a:cxnLst/>
            <a:rect r="r" b="b" t="t" l="l"/>
            <a:pathLst>
              <a:path h="2359787" w="4536092">
                <a:moveTo>
                  <a:pt x="0" y="0"/>
                </a:moveTo>
                <a:lnTo>
                  <a:pt x="4536092" y="0"/>
                </a:lnTo>
                <a:lnTo>
                  <a:pt x="4536092" y="2359787"/>
                </a:lnTo>
                <a:lnTo>
                  <a:pt x="0" y="235978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0" y="3793440"/>
            <a:ext cx="4874073" cy="5444975"/>
          </a:xfrm>
          <a:custGeom>
            <a:avLst/>
            <a:gdLst/>
            <a:ahLst/>
            <a:cxnLst/>
            <a:rect r="r" b="b" t="t" l="l"/>
            <a:pathLst>
              <a:path h="5444975" w="4874073">
                <a:moveTo>
                  <a:pt x="0" y="0"/>
                </a:moveTo>
                <a:lnTo>
                  <a:pt x="4874073" y="0"/>
                </a:lnTo>
                <a:lnTo>
                  <a:pt x="4874073" y="5444975"/>
                </a:lnTo>
                <a:lnTo>
                  <a:pt x="0" y="544497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7" id="7"/>
          <p:cNvSpPr txBox="true"/>
          <p:nvPr/>
        </p:nvSpPr>
        <p:spPr>
          <a:xfrm rot="0">
            <a:off x="4932588" y="2840193"/>
            <a:ext cx="12326712" cy="4540569"/>
          </a:xfrm>
          <a:prstGeom prst="rect">
            <a:avLst/>
          </a:prstGeom>
        </p:spPr>
        <p:txBody>
          <a:bodyPr anchor="t" rtlCol="false" tIns="0" lIns="0" bIns="0" rIns="0">
            <a:spAutoFit/>
          </a:bodyPr>
          <a:lstStyle/>
          <a:p>
            <a:pPr algn="l">
              <a:lnSpc>
                <a:spcPts val="4044"/>
              </a:lnSpc>
            </a:pPr>
            <a:r>
              <a:rPr lang="en-US" sz="2888" spc="228">
                <a:solidFill>
                  <a:srgbClr val="FFFFFF"/>
                </a:solidFill>
                <a:latin typeface="Pattanakarn"/>
                <a:ea typeface="Pattanakarn"/>
                <a:cs typeface="Pattanakarn"/>
                <a:sym typeface="Pattanakarn"/>
              </a:rPr>
              <a:t>Perulangan atau looping adalah struktur pemrograman yang digunakan untuk menjalankan kode secara berulang, sehingga dapat memproses banyak data atau melakukan tugas yang sama dengan lebih efisien. Tanpa menggunakan perulangan, kita harus menulis kode yang sama berkali-kali, sehingga jumlah baris kode menjadi lebih banyak dan membutuhkan waktu lebih lama untuk membuatnya.</a:t>
            </a:r>
          </a:p>
          <a:p>
            <a:pPr algn="l">
              <a:lnSpc>
                <a:spcPts val="4044"/>
              </a:lnSpc>
            </a:pPr>
          </a:p>
        </p:txBody>
      </p:sp>
      <p:sp>
        <p:nvSpPr>
          <p:cNvPr name="TextBox 8" id="8"/>
          <p:cNvSpPr txBox="true"/>
          <p:nvPr/>
        </p:nvSpPr>
        <p:spPr>
          <a:xfrm rot="0">
            <a:off x="4874073" y="1104900"/>
            <a:ext cx="12385227" cy="1308100"/>
          </a:xfrm>
          <a:prstGeom prst="rect">
            <a:avLst/>
          </a:prstGeom>
        </p:spPr>
        <p:txBody>
          <a:bodyPr anchor="t" rtlCol="false" tIns="0" lIns="0" bIns="0" rIns="0">
            <a:spAutoFit/>
          </a:bodyPr>
          <a:lstStyle/>
          <a:p>
            <a:pPr algn="l">
              <a:lnSpc>
                <a:spcPts val="5000"/>
              </a:lnSpc>
            </a:pPr>
            <a:r>
              <a:rPr lang="en-US" sz="5000" spc="140" b="true">
                <a:solidFill>
                  <a:srgbClr val="FFFFFF"/>
                </a:solidFill>
                <a:latin typeface="Tomorrow Bold"/>
                <a:ea typeface="Tomorrow Bold"/>
                <a:cs typeface="Tomorrow Bold"/>
                <a:sym typeface="Tomorrow Bold"/>
              </a:rPr>
              <a:t>Pengertian, Fungsi Dan Tujuan Perulangan </a:t>
            </a:r>
          </a:p>
        </p:txBody>
      </p:sp>
      <p:sp>
        <p:nvSpPr>
          <p:cNvPr name="Freeform 9" id="9"/>
          <p:cNvSpPr/>
          <p:nvPr/>
        </p:nvSpPr>
        <p:spPr>
          <a:xfrm flipH="false" flipV="false" rot="8633086">
            <a:off x="-1239346" y="17044"/>
            <a:ext cx="4536092" cy="2359787"/>
          </a:xfrm>
          <a:custGeom>
            <a:avLst/>
            <a:gdLst/>
            <a:ahLst/>
            <a:cxnLst/>
            <a:rect r="r" b="b" t="t" l="l"/>
            <a:pathLst>
              <a:path h="2359787" w="4536092">
                <a:moveTo>
                  <a:pt x="0" y="0"/>
                </a:moveTo>
                <a:lnTo>
                  <a:pt x="4536092" y="0"/>
                </a:lnTo>
                <a:lnTo>
                  <a:pt x="4536092" y="2359787"/>
                </a:lnTo>
                <a:lnTo>
                  <a:pt x="0" y="235978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transition spd="fast">
    <p:fade/>
  </p:transition>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0385E"/>
        </a:solidFill>
      </p:bgPr>
    </p:bg>
    <p:spTree>
      <p:nvGrpSpPr>
        <p:cNvPr id="1" name=""/>
        <p:cNvGrpSpPr/>
        <p:nvPr/>
      </p:nvGrpSpPr>
      <p:grpSpPr>
        <a:xfrm>
          <a:off x="0" y="0"/>
          <a:ext cx="0" cy="0"/>
          <a:chOff x="0" y="0"/>
          <a:chExt cx="0" cy="0"/>
        </a:xfrm>
      </p:grpSpPr>
      <p:sp>
        <p:nvSpPr>
          <p:cNvPr name="Freeform 2" id="2"/>
          <p:cNvSpPr/>
          <p:nvPr/>
        </p:nvSpPr>
        <p:spPr>
          <a:xfrm flipH="false" flipV="false" rot="0">
            <a:off x="-1493041" y="6670693"/>
            <a:ext cx="5043482" cy="5175215"/>
          </a:xfrm>
          <a:custGeom>
            <a:avLst/>
            <a:gdLst/>
            <a:ahLst/>
            <a:cxnLst/>
            <a:rect r="r" b="b" t="t" l="l"/>
            <a:pathLst>
              <a:path h="5175215" w="5043482">
                <a:moveTo>
                  <a:pt x="0" y="0"/>
                </a:moveTo>
                <a:lnTo>
                  <a:pt x="5043482" y="0"/>
                </a:lnTo>
                <a:lnTo>
                  <a:pt x="5043482" y="5175214"/>
                </a:lnTo>
                <a:lnTo>
                  <a:pt x="0" y="5175214"/>
                </a:lnTo>
                <a:lnTo>
                  <a:pt x="0" y="0"/>
                </a:lnTo>
                <a:close/>
              </a:path>
            </a:pathLst>
          </a:custGeom>
          <a:blipFill>
            <a:blip r:embed="rId2">
              <a:alphaModFix amt="12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737559" y="-2057986"/>
            <a:ext cx="5043482" cy="5175215"/>
          </a:xfrm>
          <a:custGeom>
            <a:avLst/>
            <a:gdLst/>
            <a:ahLst/>
            <a:cxnLst/>
            <a:rect r="r" b="b" t="t" l="l"/>
            <a:pathLst>
              <a:path h="5175215" w="5043482">
                <a:moveTo>
                  <a:pt x="0" y="0"/>
                </a:moveTo>
                <a:lnTo>
                  <a:pt x="5043482" y="0"/>
                </a:lnTo>
                <a:lnTo>
                  <a:pt x="5043482" y="5175215"/>
                </a:lnTo>
                <a:lnTo>
                  <a:pt x="0" y="5175215"/>
                </a:lnTo>
                <a:lnTo>
                  <a:pt x="0" y="0"/>
                </a:lnTo>
                <a:close/>
              </a:path>
            </a:pathLst>
          </a:custGeom>
          <a:blipFill>
            <a:blip r:embed="rId2">
              <a:alphaModFix amt="12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484079" y="6630646"/>
            <a:ext cx="3550441" cy="3421334"/>
          </a:xfrm>
          <a:custGeom>
            <a:avLst/>
            <a:gdLst/>
            <a:ahLst/>
            <a:cxnLst/>
            <a:rect r="r" b="b" t="t" l="l"/>
            <a:pathLst>
              <a:path h="3421334" w="3550441">
                <a:moveTo>
                  <a:pt x="0" y="0"/>
                </a:moveTo>
                <a:lnTo>
                  <a:pt x="3550442" y="0"/>
                </a:lnTo>
                <a:lnTo>
                  <a:pt x="3550442" y="3421334"/>
                </a:lnTo>
                <a:lnTo>
                  <a:pt x="0" y="3421334"/>
                </a:lnTo>
                <a:lnTo>
                  <a:pt x="0" y="0"/>
                </a:lnTo>
                <a:close/>
              </a:path>
            </a:pathLst>
          </a:custGeom>
          <a:blipFill>
            <a:blip r:embed="rId4">
              <a:alphaModFix amt="44999"/>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false" rot="0">
            <a:off x="-1013716" y="-304105"/>
            <a:ext cx="3550441" cy="3421334"/>
          </a:xfrm>
          <a:custGeom>
            <a:avLst/>
            <a:gdLst/>
            <a:ahLst/>
            <a:cxnLst/>
            <a:rect r="r" b="b" t="t" l="l"/>
            <a:pathLst>
              <a:path h="3421334" w="3550441">
                <a:moveTo>
                  <a:pt x="3550441" y="0"/>
                </a:moveTo>
                <a:lnTo>
                  <a:pt x="0" y="0"/>
                </a:lnTo>
                <a:lnTo>
                  <a:pt x="0" y="3421334"/>
                </a:lnTo>
                <a:lnTo>
                  <a:pt x="3550441" y="3421334"/>
                </a:lnTo>
                <a:lnTo>
                  <a:pt x="3550441" y="0"/>
                </a:lnTo>
                <a:close/>
              </a:path>
            </a:pathLst>
          </a:custGeom>
          <a:blipFill>
            <a:blip r:embed="rId4">
              <a:alphaModFix amt="44999"/>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478821" y="-1070959"/>
            <a:ext cx="17330358" cy="11122939"/>
          </a:xfrm>
          <a:custGeom>
            <a:avLst/>
            <a:gdLst/>
            <a:ahLst/>
            <a:cxnLst/>
            <a:rect r="r" b="b" t="t" l="l"/>
            <a:pathLst>
              <a:path h="11122939" w="17330358">
                <a:moveTo>
                  <a:pt x="0" y="0"/>
                </a:moveTo>
                <a:lnTo>
                  <a:pt x="17330358" y="0"/>
                </a:lnTo>
                <a:lnTo>
                  <a:pt x="17330358" y="11122939"/>
                </a:lnTo>
                <a:lnTo>
                  <a:pt x="0" y="11122939"/>
                </a:lnTo>
                <a:lnTo>
                  <a:pt x="0" y="0"/>
                </a:lnTo>
                <a:close/>
              </a:path>
            </a:pathLst>
          </a:custGeom>
          <a:blipFill>
            <a:blip r:embed="rId6"/>
            <a:stretch>
              <a:fillRect l="0" t="0" r="0" b="0"/>
            </a:stretch>
          </a:blipFill>
        </p:spPr>
      </p:sp>
      <p:sp>
        <p:nvSpPr>
          <p:cNvPr name="TextBox 7" id="7"/>
          <p:cNvSpPr txBox="true"/>
          <p:nvPr/>
        </p:nvSpPr>
        <p:spPr>
          <a:xfrm rot="0">
            <a:off x="2542714" y="1860206"/>
            <a:ext cx="12498482" cy="2394637"/>
          </a:xfrm>
          <a:prstGeom prst="rect">
            <a:avLst/>
          </a:prstGeom>
        </p:spPr>
        <p:txBody>
          <a:bodyPr anchor="t" rtlCol="false" tIns="0" lIns="0" bIns="0" rIns="0">
            <a:spAutoFit/>
          </a:bodyPr>
          <a:lstStyle/>
          <a:p>
            <a:pPr algn="ctr">
              <a:lnSpc>
                <a:spcPts val="3845"/>
              </a:lnSpc>
            </a:pPr>
            <a:r>
              <a:rPr lang="en-US" sz="2747" spc="217">
                <a:solidFill>
                  <a:srgbClr val="FFFFFF"/>
                </a:solidFill>
                <a:latin typeface="Pattanakarn"/>
                <a:ea typeface="Pattanakarn"/>
                <a:cs typeface="Pattanakarn"/>
                <a:sym typeface="Pattanakarn"/>
              </a:rPr>
              <a:t>Sintaks dasar if adalah aturan penulisan ko</a:t>
            </a:r>
            <a:r>
              <a:rPr lang="en-US" sz="2747" spc="217">
                <a:solidFill>
                  <a:srgbClr val="FFFFFF"/>
                </a:solidFill>
                <a:latin typeface="Pattanakarn"/>
                <a:ea typeface="Pattanakarn"/>
                <a:cs typeface="Pattanakarn"/>
                <a:sym typeface="Pattanakarn"/>
              </a:rPr>
              <a:t>d</a:t>
            </a:r>
            <a:r>
              <a:rPr lang="en-US" sz="2747" spc="217">
                <a:solidFill>
                  <a:srgbClr val="FFFFFF"/>
                </a:solidFill>
                <a:latin typeface="Pattanakarn"/>
                <a:ea typeface="Pattanakarn"/>
                <a:cs typeface="Pattanakarn"/>
                <a:sym typeface="Pattanakarn"/>
              </a:rPr>
              <a:t>e untuk memeriks</a:t>
            </a:r>
            <a:r>
              <a:rPr lang="en-US" sz="2747" spc="217">
                <a:solidFill>
                  <a:srgbClr val="FFFFFF"/>
                </a:solidFill>
                <a:latin typeface="Pattanakarn"/>
                <a:ea typeface="Pattanakarn"/>
                <a:cs typeface="Pattanakarn"/>
                <a:sym typeface="Pattanakarn"/>
              </a:rPr>
              <a:t>a </a:t>
            </a:r>
            <a:r>
              <a:rPr lang="en-US" sz="2747" spc="217">
                <a:solidFill>
                  <a:srgbClr val="FFFFFF"/>
                </a:solidFill>
                <a:latin typeface="Pattanakarn"/>
                <a:ea typeface="Pattanakarn"/>
                <a:cs typeface="Pattanakarn"/>
                <a:sym typeface="Pattanakarn"/>
              </a:rPr>
              <a:t>su</a:t>
            </a:r>
            <a:r>
              <a:rPr lang="en-US" sz="2747" spc="217">
                <a:solidFill>
                  <a:srgbClr val="FFFFFF"/>
                </a:solidFill>
                <a:latin typeface="Pattanakarn"/>
                <a:ea typeface="Pattanakarn"/>
                <a:cs typeface="Pattanakarn"/>
                <a:sym typeface="Pattanakarn"/>
              </a:rPr>
              <a:t>atu </a:t>
            </a:r>
            <a:r>
              <a:rPr lang="en-US" sz="2747" spc="217">
                <a:solidFill>
                  <a:srgbClr val="FFFFFF"/>
                </a:solidFill>
                <a:latin typeface="Pattanakarn"/>
                <a:ea typeface="Pattanakarn"/>
                <a:cs typeface="Pattanakarn"/>
                <a:sym typeface="Pattanakarn"/>
              </a:rPr>
              <a:t>k</a:t>
            </a:r>
            <a:r>
              <a:rPr lang="en-US" sz="2747" spc="217">
                <a:solidFill>
                  <a:srgbClr val="FFFFFF"/>
                </a:solidFill>
                <a:latin typeface="Pattanakarn"/>
                <a:ea typeface="Pattanakarn"/>
                <a:cs typeface="Pattanakarn"/>
                <a:sym typeface="Pattanakarn"/>
              </a:rPr>
              <a:t>o</a:t>
            </a:r>
            <a:r>
              <a:rPr lang="en-US" sz="2747" spc="217">
                <a:solidFill>
                  <a:srgbClr val="FFFFFF"/>
                </a:solidFill>
                <a:latin typeface="Pattanakarn"/>
                <a:ea typeface="Pattanakarn"/>
                <a:cs typeface="Pattanakarn"/>
                <a:sym typeface="Pattanakarn"/>
              </a:rPr>
              <a:t>ndisi</a:t>
            </a:r>
            <a:r>
              <a:rPr lang="en-US" sz="2747" spc="217">
                <a:solidFill>
                  <a:srgbClr val="FFFFFF"/>
                </a:solidFill>
                <a:latin typeface="Pattanakarn"/>
                <a:ea typeface="Pattanakarn"/>
                <a:cs typeface="Pattanakarn"/>
                <a:sym typeface="Pattanakarn"/>
              </a:rPr>
              <a:t> dan </a:t>
            </a:r>
            <a:r>
              <a:rPr lang="en-US" sz="2747" spc="217">
                <a:solidFill>
                  <a:srgbClr val="FFFFFF"/>
                </a:solidFill>
                <a:latin typeface="Pattanakarn"/>
                <a:ea typeface="Pattanakarn"/>
                <a:cs typeface="Pattanakarn"/>
                <a:sym typeface="Pattanakarn"/>
              </a:rPr>
              <a:t>m</a:t>
            </a:r>
            <a:r>
              <a:rPr lang="en-US" sz="2747" spc="217">
                <a:solidFill>
                  <a:srgbClr val="FFFFFF"/>
                </a:solidFill>
                <a:latin typeface="Pattanakarn"/>
                <a:ea typeface="Pattanakarn"/>
                <a:cs typeface="Pattanakarn"/>
                <a:sym typeface="Pattanakarn"/>
              </a:rPr>
              <a:t>en</a:t>
            </a:r>
            <a:r>
              <a:rPr lang="en-US" sz="2747" spc="217">
                <a:solidFill>
                  <a:srgbClr val="FFFFFF"/>
                </a:solidFill>
                <a:latin typeface="Pattanakarn"/>
                <a:ea typeface="Pattanakarn"/>
                <a:cs typeface="Pattanakarn"/>
                <a:sym typeface="Pattanakarn"/>
              </a:rPr>
              <a:t>j</a:t>
            </a:r>
            <a:r>
              <a:rPr lang="en-US" sz="2747" spc="217">
                <a:solidFill>
                  <a:srgbClr val="FFFFFF"/>
                </a:solidFill>
                <a:latin typeface="Pattanakarn"/>
                <a:ea typeface="Pattanakarn"/>
                <a:cs typeface="Pattanakarn"/>
                <a:sym typeface="Pattanakarn"/>
              </a:rPr>
              <a:t>a</a:t>
            </a:r>
            <a:r>
              <a:rPr lang="en-US" sz="2747" spc="217">
                <a:solidFill>
                  <a:srgbClr val="FFFFFF"/>
                </a:solidFill>
                <a:latin typeface="Pattanakarn"/>
                <a:ea typeface="Pattanakarn"/>
                <a:cs typeface="Pattanakarn"/>
                <a:sym typeface="Pattanakarn"/>
              </a:rPr>
              <a:t>lan</a:t>
            </a:r>
            <a:r>
              <a:rPr lang="en-US" sz="2747" spc="217">
                <a:solidFill>
                  <a:srgbClr val="FFFFFF"/>
                </a:solidFill>
                <a:latin typeface="Pattanakarn"/>
                <a:ea typeface="Pattanakarn"/>
                <a:cs typeface="Pattanakarn"/>
                <a:sym typeface="Pattanakarn"/>
              </a:rPr>
              <a:t>kan </a:t>
            </a:r>
            <a:r>
              <a:rPr lang="en-US" sz="2747" spc="217">
                <a:solidFill>
                  <a:srgbClr val="FFFFFF"/>
                </a:solidFill>
                <a:latin typeface="Pattanakarn"/>
                <a:ea typeface="Pattanakarn"/>
                <a:cs typeface="Pattanakarn"/>
                <a:sym typeface="Pattanakarn"/>
              </a:rPr>
              <a:t>peri</a:t>
            </a:r>
            <a:r>
              <a:rPr lang="en-US" sz="2747" spc="217">
                <a:solidFill>
                  <a:srgbClr val="FFFFFF"/>
                </a:solidFill>
                <a:latin typeface="Pattanakarn"/>
                <a:ea typeface="Pattanakarn"/>
                <a:cs typeface="Pattanakarn"/>
                <a:sym typeface="Pattanakarn"/>
              </a:rPr>
              <a:t>nt</a:t>
            </a:r>
            <a:r>
              <a:rPr lang="en-US" sz="2747" spc="217">
                <a:solidFill>
                  <a:srgbClr val="FFFFFF"/>
                </a:solidFill>
                <a:latin typeface="Pattanakarn"/>
                <a:ea typeface="Pattanakarn"/>
                <a:cs typeface="Pattanakarn"/>
                <a:sym typeface="Pattanakarn"/>
              </a:rPr>
              <a:t>ah ji</a:t>
            </a:r>
            <a:r>
              <a:rPr lang="en-US" sz="2747" spc="217">
                <a:solidFill>
                  <a:srgbClr val="FFFFFF"/>
                </a:solidFill>
                <a:latin typeface="Pattanakarn"/>
                <a:ea typeface="Pattanakarn"/>
                <a:cs typeface="Pattanakarn"/>
                <a:sym typeface="Pattanakarn"/>
              </a:rPr>
              <a:t>k</a:t>
            </a:r>
            <a:r>
              <a:rPr lang="en-US" sz="2747" spc="217">
                <a:solidFill>
                  <a:srgbClr val="FFFFFF"/>
                </a:solidFill>
                <a:latin typeface="Pattanakarn"/>
                <a:ea typeface="Pattanakarn"/>
                <a:cs typeface="Pattanakarn"/>
                <a:sym typeface="Pattanakarn"/>
              </a:rPr>
              <a:t>a</a:t>
            </a:r>
            <a:r>
              <a:rPr lang="en-US" sz="2747" spc="217">
                <a:solidFill>
                  <a:srgbClr val="FFFFFF"/>
                </a:solidFill>
                <a:latin typeface="Pattanakarn"/>
                <a:ea typeface="Pattanakarn"/>
                <a:cs typeface="Pattanakarn"/>
                <a:sym typeface="Pattanakarn"/>
              </a:rPr>
              <a:t> k</a:t>
            </a:r>
            <a:r>
              <a:rPr lang="en-US" sz="2747" spc="217">
                <a:solidFill>
                  <a:srgbClr val="FFFFFF"/>
                </a:solidFill>
                <a:latin typeface="Pattanakarn"/>
                <a:ea typeface="Pattanakarn"/>
                <a:cs typeface="Pattanakarn"/>
                <a:sym typeface="Pattanakarn"/>
              </a:rPr>
              <a:t>o</a:t>
            </a:r>
            <a:r>
              <a:rPr lang="en-US" sz="2747" spc="217">
                <a:solidFill>
                  <a:srgbClr val="FFFFFF"/>
                </a:solidFill>
                <a:latin typeface="Pattanakarn"/>
                <a:ea typeface="Pattanakarn"/>
                <a:cs typeface="Pattanakarn"/>
                <a:sym typeface="Pattanakarn"/>
              </a:rPr>
              <a:t>n</a:t>
            </a:r>
            <a:r>
              <a:rPr lang="en-US" sz="2747" spc="217">
                <a:solidFill>
                  <a:srgbClr val="FFFFFF"/>
                </a:solidFill>
                <a:latin typeface="Pattanakarn"/>
                <a:ea typeface="Pattanakarn"/>
                <a:cs typeface="Pattanakarn"/>
                <a:sym typeface="Pattanakarn"/>
              </a:rPr>
              <a:t>disi t</a:t>
            </a:r>
            <a:r>
              <a:rPr lang="en-US" sz="2747" spc="217">
                <a:solidFill>
                  <a:srgbClr val="FFFFFF"/>
                </a:solidFill>
                <a:latin typeface="Pattanakarn"/>
                <a:ea typeface="Pattanakarn"/>
                <a:cs typeface="Pattanakarn"/>
                <a:sym typeface="Pattanakarn"/>
              </a:rPr>
              <a:t>er</a:t>
            </a:r>
            <a:r>
              <a:rPr lang="en-US" sz="2747" spc="217">
                <a:solidFill>
                  <a:srgbClr val="FFFFFF"/>
                </a:solidFill>
                <a:latin typeface="Pattanakarn"/>
                <a:ea typeface="Pattanakarn"/>
                <a:cs typeface="Pattanakarn"/>
                <a:sym typeface="Pattanakarn"/>
              </a:rPr>
              <a:t>pen</a:t>
            </a:r>
            <a:r>
              <a:rPr lang="en-US" sz="2747" spc="217">
                <a:solidFill>
                  <a:srgbClr val="FFFFFF"/>
                </a:solidFill>
                <a:latin typeface="Pattanakarn"/>
                <a:ea typeface="Pattanakarn"/>
                <a:cs typeface="Pattanakarn"/>
                <a:sym typeface="Pattanakarn"/>
              </a:rPr>
              <a:t>u</a:t>
            </a:r>
            <a:r>
              <a:rPr lang="en-US" sz="2747" spc="217">
                <a:solidFill>
                  <a:srgbClr val="FFFFFF"/>
                </a:solidFill>
                <a:latin typeface="Pattanakarn"/>
                <a:ea typeface="Pattanakarn"/>
                <a:cs typeface="Pattanakarn"/>
                <a:sym typeface="Pattanakarn"/>
              </a:rPr>
              <a:t>hi, sed</a:t>
            </a:r>
            <a:r>
              <a:rPr lang="en-US" sz="2747" spc="217">
                <a:solidFill>
                  <a:srgbClr val="FFFFFF"/>
                </a:solidFill>
                <a:latin typeface="Pattanakarn"/>
                <a:ea typeface="Pattanakarn"/>
                <a:cs typeface="Pattanakarn"/>
                <a:sym typeface="Pattanakarn"/>
              </a:rPr>
              <a:t>ang</a:t>
            </a:r>
            <a:r>
              <a:rPr lang="en-US" sz="2747" spc="217">
                <a:solidFill>
                  <a:srgbClr val="FFFFFF"/>
                </a:solidFill>
                <a:latin typeface="Pattanakarn"/>
                <a:ea typeface="Pattanakarn"/>
                <a:cs typeface="Pattanakarn"/>
                <a:sym typeface="Pattanakarn"/>
              </a:rPr>
              <a:t>k</a:t>
            </a:r>
            <a:r>
              <a:rPr lang="en-US" sz="2747" spc="217">
                <a:solidFill>
                  <a:srgbClr val="FFFFFF"/>
                </a:solidFill>
                <a:latin typeface="Pattanakarn"/>
                <a:ea typeface="Pattanakarn"/>
                <a:cs typeface="Pattanakarn"/>
                <a:sym typeface="Pattanakarn"/>
              </a:rPr>
              <a:t>an </a:t>
            </a:r>
            <a:r>
              <a:rPr lang="en-US" sz="2747" spc="217">
                <a:solidFill>
                  <a:srgbClr val="FFFFFF"/>
                </a:solidFill>
                <a:latin typeface="Pattanakarn"/>
                <a:ea typeface="Pattanakarn"/>
                <a:cs typeface="Pattanakarn"/>
                <a:sym typeface="Pattanakarn"/>
              </a:rPr>
              <a:t>sin</a:t>
            </a:r>
            <a:r>
              <a:rPr lang="en-US" sz="2747" spc="217">
                <a:solidFill>
                  <a:srgbClr val="FFFFFF"/>
                </a:solidFill>
                <a:latin typeface="Pattanakarn"/>
                <a:ea typeface="Pattanakarn"/>
                <a:cs typeface="Pattanakarn"/>
                <a:sym typeface="Pattanakarn"/>
              </a:rPr>
              <a:t>ta</a:t>
            </a:r>
            <a:r>
              <a:rPr lang="en-US" sz="2747" spc="217">
                <a:solidFill>
                  <a:srgbClr val="FFFFFF"/>
                </a:solidFill>
                <a:latin typeface="Pattanakarn"/>
                <a:ea typeface="Pattanakarn"/>
                <a:cs typeface="Pattanakarn"/>
                <a:sym typeface="Pattanakarn"/>
              </a:rPr>
              <a:t>ks</a:t>
            </a:r>
            <a:r>
              <a:rPr lang="en-US" sz="2747" spc="217">
                <a:solidFill>
                  <a:srgbClr val="FFFFFF"/>
                </a:solidFill>
                <a:latin typeface="Pattanakarn"/>
                <a:ea typeface="Pattanakarn"/>
                <a:cs typeface="Pattanakarn"/>
                <a:sym typeface="Pattanakarn"/>
              </a:rPr>
              <a:t> dasar </a:t>
            </a:r>
            <a:r>
              <a:rPr lang="en-US" sz="2747" spc="217">
                <a:solidFill>
                  <a:srgbClr val="FFFFFF"/>
                </a:solidFill>
                <a:latin typeface="Pattanakarn"/>
                <a:ea typeface="Pattanakarn"/>
                <a:cs typeface="Pattanakarn"/>
                <a:sym typeface="Pattanakarn"/>
              </a:rPr>
              <a:t>for ada</a:t>
            </a:r>
            <a:r>
              <a:rPr lang="en-US" sz="2747" spc="217">
                <a:solidFill>
                  <a:srgbClr val="FFFFFF"/>
                </a:solidFill>
                <a:latin typeface="Pattanakarn"/>
                <a:ea typeface="Pattanakarn"/>
                <a:cs typeface="Pattanakarn"/>
                <a:sym typeface="Pattanakarn"/>
              </a:rPr>
              <a:t>lah at</a:t>
            </a:r>
            <a:r>
              <a:rPr lang="en-US" sz="2747" spc="217">
                <a:solidFill>
                  <a:srgbClr val="FFFFFF"/>
                </a:solidFill>
                <a:latin typeface="Pattanakarn"/>
                <a:ea typeface="Pattanakarn"/>
                <a:cs typeface="Pattanakarn"/>
                <a:sym typeface="Pattanakarn"/>
              </a:rPr>
              <a:t>ur</a:t>
            </a:r>
            <a:r>
              <a:rPr lang="en-US" sz="2747" spc="217">
                <a:solidFill>
                  <a:srgbClr val="FFFFFF"/>
                </a:solidFill>
                <a:latin typeface="Pattanakarn"/>
                <a:ea typeface="Pattanakarn"/>
                <a:cs typeface="Pattanakarn"/>
                <a:sym typeface="Pattanakarn"/>
              </a:rPr>
              <a:t>a</a:t>
            </a:r>
            <a:r>
              <a:rPr lang="en-US" sz="2747" spc="217">
                <a:solidFill>
                  <a:srgbClr val="FFFFFF"/>
                </a:solidFill>
                <a:latin typeface="Pattanakarn"/>
                <a:ea typeface="Pattanakarn"/>
                <a:cs typeface="Pattanakarn"/>
                <a:sym typeface="Pattanakarn"/>
              </a:rPr>
              <a:t>n</a:t>
            </a:r>
            <a:r>
              <a:rPr lang="en-US" sz="2747" spc="217">
                <a:solidFill>
                  <a:srgbClr val="FFFFFF"/>
                </a:solidFill>
                <a:latin typeface="Pattanakarn"/>
                <a:ea typeface="Pattanakarn"/>
                <a:cs typeface="Pattanakarn"/>
                <a:sym typeface="Pattanakarn"/>
              </a:rPr>
              <a:t> </a:t>
            </a:r>
            <a:r>
              <a:rPr lang="en-US" sz="2747" spc="217">
                <a:solidFill>
                  <a:srgbClr val="FFFFFF"/>
                </a:solidFill>
                <a:latin typeface="Pattanakarn"/>
                <a:ea typeface="Pattanakarn"/>
                <a:cs typeface="Pattanakarn"/>
                <a:sym typeface="Pattanakarn"/>
              </a:rPr>
              <a:t>p</a:t>
            </a:r>
            <a:r>
              <a:rPr lang="en-US" sz="2747" spc="217">
                <a:solidFill>
                  <a:srgbClr val="FFFFFF"/>
                </a:solidFill>
                <a:latin typeface="Pattanakarn"/>
                <a:ea typeface="Pattanakarn"/>
                <a:cs typeface="Pattanakarn"/>
                <a:sym typeface="Pattanakarn"/>
              </a:rPr>
              <a:t>en</a:t>
            </a:r>
            <a:r>
              <a:rPr lang="en-US" sz="2747" spc="217">
                <a:solidFill>
                  <a:srgbClr val="FFFFFF"/>
                </a:solidFill>
                <a:latin typeface="Pattanakarn"/>
                <a:ea typeface="Pattanakarn"/>
                <a:cs typeface="Pattanakarn"/>
                <a:sym typeface="Pattanakarn"/>
              </a:rPr>
              <a:t>ulis</a:t>
            </a:r>
            <a:r>
              <a:rPr lang="en-US" sz="2747" spc="217">
                <a:solidFill>
                  <a:srgbClr val="FFFFFF"/>
                </a:solidFill>
                <a:latin typeface="Pattanakarn"/>
                <a:ea typeface="Pattanakarn"/>
                <a:cs typeface="Pattanakarn"/>
                <a:sym typeface="Pattanakarn"/>
              </a:rPr>
              <a:t>an </a:t>
            </a:r>
            <a:r>
              <a:rPr lang="en-US" sz="2747" spc="217">
                <a:solidFill>
                  <a:srgbClr val="FFFFFF"/>
                </a:solidFill>
                <a:latin typeface="Pattanakarn"/>
                <a:ea typeface="Pattanakarn"/>
                <a:cs typeface="Pattanakarn"/>
                <a:sym typeface="Pattanakarn"/>
              </a:rPr>
              <a:t>kod</a:t>
            </a:r>
            <a:r>
              <a:rPr lang="en-US" sz="2747" spc="217">
                <a:solidFill>
                  <a:srgbClr val="FFFFFF"/>
                </a:solidFill>
                <a:latin typeface="Pattanakarn"/>
                <a:ea typeface="Pattanakarn"/>
                <a:cs typeface="Pattanakarn"/>
                <a:sym typeface="Pattanakarn"/>
              </a:rPr>
              <a:t>e untuk melakukan perulangan </a:t>
            </a:r>
            <a:r>
              <a:rPr lang="en-US" sz="2747" spc="217">
                <a:solidFill>
                  <a:srgbClr val="FFFFFF"/>
                </a:solidFill>
                <a:latin typeface="Pattanakarn"/>
                <a:ea typeface="Pattanakarn"/>
                <a:cs typeface="Pattanakarn"/>
                <a:sym typeface="Pattanakarn"/>
              </a:rPr>
              <a:t>b</a:t>
            </a:r>
            <a:r>
              <a:rPr lang="en-US" sz="2747" spc="217">
                <a:solidFill>
                  <a:srgbClr val="FFFFFF"/>
                </a:solidFill>
                <a:latin typeface="Pattanakarn"/>
                <a:ea typeface="Pattanakarn"/>
                <a:cs typeface="Pattanakarn"/>
                <a:sym typeface="Pattanakarn"/>
              </a:rPr>
              <a:t>e</a:t>
            </a:r>
            <a:r>
              <a:rPr lang="en-US" sz="2747" spc="217">
                <a:solidFill>
                  <a:srgbClr val="FFFFFF"/>
                </a:solidFill>
                <a:latin typeface="Pattanakarn"/>
                <a:ea typeface="Pattanakarn"/>
                <a:cs typeface="Pattanakarn"/>
                <a:sym typeface="Pattanakarn"/>
              </a:rPr>
              <a:t>rd</a:t>
            </a:r>
            <a:r>
              <a:rPr lang="en-US" sz="2747" spc="217">
                <a:solidFill>
                  <a:srgbClr val="FFFFFF"/>
                </a:solidFill>
                <a:latin typeface="Pattanakarn"/>
                <a:ea typeface="Pattanakarn"/>
                <a:cs typeface="Pattanakarn"/>
                <a:sym typeface="Pattanakarn"/>
              </a:rPr>
              <a:t>a</a:t>
            </a:r>
            <a:r>
              <a:rPr lang="en-US" sz="2747" spc="217">
                <a:solidFill>
                  <a:srgbClr val="FFFFFF"/>
                </a:solidFill>
                <a:latin typeface="Pattanakarn"/>
                <a:ea typeface="Pattanakarn"/>
                <a:cs typeface="Pattanakarn"/>
                <a:sym typeface="Pattanakarn"/>
              </a:rPr>
              <a:t>s</a:t>
            </a:r>
            <a:r>
              <a:rPr lang="en-US" sz="2747" spc="217">
                <a:solidFill>
                  <a:srgbClr val="FFFFFF"/>
                </a:solidFill>
                <a:latin typeface="Pattanakarn"/>
                <a:ea typeface="Pattanakarn"/>
                <a:cs typeface="Pattanakarn"/>
                <a:sym typeface="Pattanakarn"/>
              </a:rPr>
              <a:t>a</a:t>
            </a:r>
            <a:r>
              <a:rPr lang="en-US" sz="2747" spc="217">
                <a:solidFill>
                  <a:srgbClr val="FFFFFF"/>
                </a:solidFill>
                <a:latin typeface="Pattanakarn"/>
                <a:ea typeface="Pattanakarn"/>
                <a:cs typeface="Pattanakarn"/>
                <a:sym typeface="Pattanakarn"/>
              </a:rPr>
              <a:t>r</a:t>
            </a:r>
            <a:r>
              <a:rPr lang="en-US" sz="2747" spc="217">
                <a:solidFill>
                  <a:srgbClr val="FFFFFF"/>
                </a:solidFill>
                <a:latin typeface="Pattanakarn"/>
                <a:ea typeface="Pattanakarn"/>
                <a:cs typeface="Pattanakarn"/>
                <a:sym typeface="Pattanakarn"/>
              </a:rPr>
              <a:t>k</a:t>
            </a:r>
            <a:r>
              <a:rPr lang="en-US" sz="2747" spc="217">
                <a:solidFill>
                  <a:srgbClr val="FFFFFF"/>
                </a:solidFill>
                <a:latin typeface="Pattanakarn"/>
                <a:ea typeface="Pattanakarn"/>
                <a:cs typeface="Pattanakarn"/>
                <a:sym typeface="Pattanakarn"/>
              </a:rPr>
              <a:t>a</a:t>
            </a:r>
            <a:r>
              <a:rPr lang="en-US" sz="2747" spc="217">
                <a:solidFill>
                  <a:srgbClr val="FFFFFF"/>
                </a:solidFill>
                <a:latin typeface="Pattanakarn"/>
                <a:ea typeface="Pattanakarn"/>
                <a:cs typeface="Pattanakarn"/>
                <a:sym typeface="Pattanakarn"/>
              </a:rPr>
              <a:t>n </a:t>
            </a:r>
            <a:r>
              <a:rPr lang="en-US" sz="2747" spc="217">
                <a:solidFill>
                  <a:srgbClr val="FFFFFF"/>
                </a:solidFill>
                <a:latin typeface="Pattanakarn"/>
                <a:ea typeface="Pattanakarn"/>
                <a:cs typeface="Pattanakarn"/>
                <a:sym typeface="Pattanakarn"/>
              </a:rPr>
              <a:t>jum</a:t>
            </a:r>
            <a:r>
              <a:rPr lang="en-US" sz="2747" spc="217">
                <a:solidFill>
                  <a:srgbClr val="FFFFFF"/>
                </a:solidFill>
                <a:latin typeface="Pattanakarn"/>
                <a:ea typeface="Pattanakarn"/>
                <a:cs typeface="Pattanakarn"/>
                <a:sym typeface="Pattanakarn"/>
              </a:rPr>
              <a:t>la</a:t>
            </a:r>
            <a:r>
              <a:rPr lang="en-US" sz="2747" spc="217">
                <a:solidFill>
                  <a:srgbClr val="FFFFFF"/>
                </a:solidFill>
                <a:latin typeface="Pattanakarn"/>
                <a:ea typeface="Pattanakarn"/>
                <a:cs typeface="Pattanakarn"/>
                <a:sym typeface="Pattanakarn"/>
              </a:rPr>
              <a:t>h</a:t>
            </a:r>
            <a:r>
              <a:rPr lang="en-US" sz="2747" spc="217">
                <a:solidFill>
                  <a:srgbClr val="FFFFFF"/>
                </a:solidFill>
                <a:latin typeface="Pattanakarn"/>
                <a:ea typeface="Pattanakarn"/>
                <a:cs typeface="Pattanakarn"/>
                <a:sym typeface="Pattanakarn"/>
              </a:rPr>
              <a:t> </a:t>
            </a:r>
            <a:r>
              <a:rPr lang="en-US" sz="2747" spc="217">
                <a:solidFill>
                  <a:srgbClr val="FFFFFF"/>
                </a:solidFill>
                <a:latin typeface="Pattanakarn"/>
                <a:ea typeface="Pattanakarn"/>
                <a:cs typeface="Pattanakarn"/>
                <a:sym typeface="Pattanakarn"/>
              </a:rPr>
              <a:t>tert</a:t>
            </a:r>
            <a:r>
              <a:rPr lang="en-US" sz="2747" spc="217">
                <a:solidFill>
                  <a:srgbClr val="FFFFFF"/>
                </a:solidFill>
                <a:latin typeface="Pattanakarn"/>
                <a:ea typeface="Pattanakarn"/>
                <a:cs typeface="Pattanakarn"/>
                <a:sym typeface="Pattanakarn"/>
              </a:rPr>
              <a:t>en</a:t>
            </a:r>
            <a:r>
              <a:rPr lang="en-US" sz="2747" spc="217">
                <a:solidFill>
                  <a:srgbClr val="FFFFFF"/>
                </a:solidFill>
                <a:latin typeface="Pattanakarn"/>
                <a:ea typeface="Pattanakarn"/>
                <a:cs typeface="Pattanakarn"/>
                <a:sym typeface="Pattanakarn"/>
              </a:rPr>
              <a:t>tu </a:t>
            </a:r>
            <a:r>
              <a:rPr lang="en-US" sz="2747" spc="217">
                <a:solidFill>
                  <a:srgbClr val="FFFFFF"/>
                </a:solidFill>
                <a:latin typeface="Pattanakarn"/>
                <a:ea typeface="Pattanakarn"/>
                <a:cs typeface="Pattanakarn"/>
                <a:sym typeface="Pattanakarn"/>
              </a:rPr>
              <a:t>a</a:t>
            </a:r>
            <a:r>
              <a:rPr lang="en-US" sz="2747" spc="217">
                <a:solidFill>
                  <a:srgbClr val="FFFFFF"/>
                </a:solidFill>
                <a:latin typeface="Pattanakarn"/>
                <a:ea typeface="Pattanakarn"/>
                <a:cs typeface="Pattanakarn"/>
                <a:sym typeface="Pattanakarn"/>
              </a:rPr>
              <a:t>tau u</a:t>
            </a:r>
            <a:r>
              <a:rPr lang="en-US" sz="2747" spc="217">
                <a:solidFill>
                  <a:srgbClr val="FFFFFF"/>
                </a:solidFill>
                <a:latin typeface="Pattanakarn"/>
                <a:ea typeface="Pattanakarn"/>
                <a:cs typeface="Pattanakarn"/>
                <a:sym typeface="Pattanakarn"/>
              </a:rPr>
              <a:t>r</a:t>
            </a:r>
            <a:r>
              <a:rPr lang="en-US" sz="2747" spc="217">
                <a:solidFill>
                  <a:srgbClr val="FFFFFF"/>
                </a:solidFill>
                <a:latin typeface="Pattanakarn"/>
                <a:ea typeface="Pattanakarn"/>
                <a:cs typeface="Pattanakarn"/>
                <a:sym typeface="Pattanakarn"/>
              </a:rPr>
              <a:t>utan</a:t>
            </a:r>
            <a:r>
              <a:rPr lang="en-US" sz="2747" spc="217">
                <a:solidFill>
                  <a:srgbClr val="FFFFFF"/>
                </a:solidFill>
                <a:latin typeface="Pattanakarn"/>
                <a:ea typeface="Pattanakarn"/>
                <a:cs typeface="Pattanakarn"/>
                <a:sym typeface="Pattanakarn"/>
              </a:rPr>
              <a:t> </a:t>
            </a:r>
            <a:r>
              <a:rPr lang="en-US" sz="2747" spc="217">
                <a:solidFill>
                  <a:srgbClr val="FFFFFF"/>
                </a:solidFill>
                <a:latin typeface="Pattanakarn"/>
                <a:ea typeface="Pattanakarn"/>
                <a:cs typeface="Pattanakarn"/>
                <a:sym typeface="Pattanakarn"/>
              </a:rPr>
              <a:t>da</a:t>
            </a:r>
            <a:r>
              <a:rPr lang="en-US" sz="2747" spc="217">
                <a:solidFill>
                  <a:srgbClr val="FFFFFF"/>
                </a:solidFill>
                <a:latin typeface="Pattanakarn"/>
                <a:ea typeface="Pattanakarn"/>
                <a:cs typeface="Pattanakarn"/>
                <a:sym typeface="Pattanakarn"/>
              </a:rPr>
              <a:t>t</a:t>
            </a:r>
            <a:r>
              <a:rPr lang="en-US" sz="2747" spc="217">
                <a:solidFill>
                  <a:srgbClr val="FFFFFF"/>
                </a:solidFill>
                <a:latin typeface="Pattanakarn"/>
                <a:ea typeface="Pattanakarn"/>
                <a:cs typeface="Pattanakarn"/>
                <a:sym typeface="Pattanakarn"/>
              </a:rPr>
              <a:t>a</a:t>
            </a:r>
            <a:r>
              <a:rPr lang="en-US" sz="2747" spc="217">
                <a:solidFill>
                  <a:srgbClr val="FFFFFF"/>
                </a:solidFill>
                <a:latin typeface="Pattanakarn"/>
                <a:ea typeface="Pattanakarn"/>
                <a:cs typeface="Pattanakarn"/>
                <a:sym typeface="Pattanakarn"/>
              </a:rPr>
              <a:t>.</a:t>
            </a:r>
          </a:p>
        </p:txBody>
      </p:sp>
      <p:sp>
        <p:nvSpPr>
          <p:cNvPr name="TextBox 8" id="8"/>
          <p:cNvSpPr txBox="true"/>
          <p:nvPr/>
        </p:nvSpPr>
        <p:spPr>
          <a:xfrm rot="0">
            <a:off x="5086350" y="349250"/>
            <a:ext cx="8115300" cy="679450"/>
          </a:xfrm>
          <a:prstGeom prst="rect">
            <a:avLst/>
          </a:prstGeom>
        </p:spPr>
        <p:txBody>
          <a:bodyPr anchor="t" rtlCol="false" tIns="0" lIns="0" bIns="0" rIns="0">
            <a:spAutoFit/>
          </a:bodyPr>
          <a:lstStyle/>
          <a:p>
            <a:pPr algn="ctr">
              <a:lnSpc>
                <a:spcPts val="5000"/>
              </a:lnSpc>
            </a:pPr>
            <a:r>
              <a:rPr lang="en-US" b="true" sz="5000" spc="140">
                <a:solidFill>
                  <a:srgbClr val="FFFFFF"/>
                </a:solidFill>
                <a:latin typeface="Tomorrow Bold"/>
                <a:ea typeface="Tomorrow Bold"/>
                <a:cs typeface="Tomorrow Bold"/>
                <a:sym typeface="Tomorrow Bold"/>
              </a:rPr>
              <a:t>Sintaks Dasar</a:t>
            </a:r>
          </a:p>
        </p:txBody>
      </p:sp>
      <p:sp>
        <p:nvSpPr>
          <p:cNvPr name="TextBox 9" id="9"/>
          <p:cNvSpPr txBox="true"/>
          <p:nvPr/>
        </p:nvSpPr>
        <p:spPr>
          <a:xfrm rot="0">
            <a:off x="2542714" y="5121487"/>
            <a:ext cx="5132778" cy="1431732"/>
          </a:xfrm>
          <a:prstGeom prst="rect">
            <a:avLst/>
          </a:prstGeom>
        </p:spPr>
        <p:txBody>
          <a:bodyPr anchor="t" rtlCol="false" tIns="0" lIns="0" bIns="0" rIns="0">
            <a:spAutoFit/>
          </a:bodyPr>
          <a:lstStyle/>
          <a:p>
            <a:pPr algn="ctr">
              <a:lnSpc>
                <a:spcPts val="3845"/>
              </a:lnSpc>
            </a:pPr>
            <a:r>
              <a:rPr lang="en-US" sz="2747" spc="217">
                <a:solidFill>
                  <a:srgbClr val="FFFFFF"/>
                </a:solidFill>
                <a:latin typeface="Pattanakarn"/>
                <a:ea typeface="Pattanakarn"/>
                <a:cs typeface="Pattanakarn"/>
                <a:sym typeface="Pattanakarn"/>
              </a:rPr>
              <a:t>Contoh if:</a:t>
            </a:r>
          </a:p>
          <a:p>
            <a:pPr algn="ctr">
              <a:lnSpc>
                <a:spcPts val="3845"/>
              </a:lnSpc>
            </a:pPr>
            <a:r>
              <a:rPr lang="en-US" sz="2747" spc="217">
                <a:solidFill>
                  <a:srgbClr val="FFFFFF"/>
                </a:solidFill>
                <a:latin typeface="Pattanakarn"/>
                <a:ea typeface="Pattanakarn"/>
                <a:cs typeface="Pattanakarn"/>
                <a:sym typeface="Pattanakarn"/>
              </a:rPr>
              <a:t>for i in range (1,5):</a:t>
            </a:r>
          </a:p>
          <a:p>
            <a:pPr algn="ctr">
              <a:lnSpc>
                <a:spcPts val="3845"/>
              </a:lnSpc>
            </a:pPr>
            <a:r>
              <a:rPr lang="en-US" sz="2747" spc="217">
                <a:solidFill>
                  <a:srgbClr val="FFFFFF"/>
                </a:solidFill>
                <a:latin typeface="Pattanakarn"/>
                <a:ea typeface="Pattanakarn"/>
                <a:cs typeface="Pattanakarn"/>
                <a:sym typeface="Pattanakarn"/>
              </a:rPr>
              <a:t>print(“aku suka coding”)</a:t>
            </a:r>
          </a:p>
        </p:txBody>
      </p:sp>
      <p:sp>
        <p:nvSpPr>
          <p:cNvPr name="TextBox 10" id="10"/>
          <p:cNvSpPr txBox="true"/>
          <p:nvPr/>
        </p:nvSpPr>
        <p:spPr>
          <a:xfrm rot="0">
            <a:off x="10635261" y="5086350"/>
            <a:ext cx="5132778" cy="1431732"/>
          </a:xfrm>
          <a:prstGeom prst="rect">
            <a:avLst/>
          </a:prstGeom>
        </p:spPr>
        <p:txBody>
          <a:bodyPr anchor="t" rtlCol="false" tIns="0" lIns="0" bIns="0" rIns="0">
            <a:spAutoFit/>
          </a:bodyPr>
          <a:lstStyle/>
          <a:p>
            <a:pPr algn="ctr">
              <a:lnSpc>
                <a:spcPts val="3845"/>
              </a:lnSpc>
            </a:pPr>
            <a:r>
              <a:rPr lang="en-US" sz="2747" spc="217">
                <a:solidFill>
                  <a:srgbClr val="FFFFFF"/>
                </a:solidFill>
                <a:latin typeface="Pattanakarn"/>
                <a:ea typeface="Pattanakarn"/>
                <a:cs typeface="Pattanakarn"/>
                <a:sym typeface="Pattanakarn"/>
              </a:rPr>
              <a:t>Contoh if :</a:t>
            </a:r>
          </a:p>
          <a:p>
            <a:pPr algn="ctr">
              <a:lnSpc>
                <a:spcPts val="3845"/>
              </a:lnSpc>
            </a:pPr>
            <a:r>
              <a:rPr lang="en-US" sz="2747" spc="217">
                <a:solidFill>
                  <a:srgbClr val="FFFFFF"/>
                </a:solidFill>
                <a:latin typeface="Pattanakarn"/>
                <a:ea typeface="Pattanakarn"/>
                <a:cs typeface="Pattanakarn"/>
                <a:sym typeface="Pattanakarn"/>
              </a:rPr>
              <a:t>if nilai &gt;= 75:</a:t>
            </a:r>
          </a:p>
          <a:p>
            <a:pPr algn="ctr">
              <a:lnSpc>
                <a:spcPts val="3845"/>
              </a:lnSpc>
            </a:pPr>
            <a:r>
              <a:rPr lang="en-US" sz="2747" spc="217">
                <a:solidFill>
                  <a:srgbClr val="FFFFFF"/>
                </a:solidFill>
                <a:latin typeface="Pattanakarn"/>
                <a:ea typeface="Pattanakarn"/>
                <a:cs typeface="Pattanakarn"/>
                <a:sym typeface="Pattanakarn"/>
              </a:rPr>
              <a:t>    print("Lulus")</a:t>
            </a:r>
          </a:p>
        </p:txBody>
      </p:sp>
    </p:spTree>
  </p:cSld>
  <p:clrMapOvr>
    <a:masterClrMapping/>
  </p:clrMapOvr>
  <p:transition spd="fast">
    <p:fade/>
  </p:transition>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0385E"/>
        </a:solidFill>
      </p:bgPr>
    </p:bg>
    <p:spTree>
      <p:nvGrpSpPr>
        <p:cNvPr id="1" name=""/>
        <p:cNvGrpSpPr/>
        <p:nvPr/>
      </p:nvGrpSpPr>
      <p:grpSpPr>
        <a:xfrm>
          <a:off x="0" y="0"/>
          <a:ext cx="0" cy="0"/>
          <a:chOff x="0" y="0"/>
          <a:chExt cx="0" cy="0"/>
        </a:xfrm>
      </p:grpSpPr>
      <p:sp>
        <p:nvSpPr>
          <p:cNvPr name="Freeform 2" id="2"/>
          <p:cNvSpPr/>
          <p:nvPr/>
        </p:nvSpPr>
        <p:spPr>
          <a:xfrm flipH="false" flipV="false" rot="0">
            <a:off x="14871726" y="7283529"/>
            <a:ext cx="2387574" cy="1532388"/>
          </a:xfrm>
          <a:custGeom>
            <a:avLst/>
            <a:gdLst/>
            <a:ahLst/>
            <a:cxnLst/>
            <a:rect r="r" b="b" t="t" l="l"/>
            <a:pathLst>
              <a:path h="1532388" w="2387574">
                <a:moveTo>
                  <a:pt x="0" y="0"/>
                </a:moveTo>
                <a:lnTo>
                  <a:pt x="2387574" y="0"/>
                </a:lnTo>
                <a:lnTo>
                  <a:pt x="2387574" y="1532388"/>
                </a:lnTo>
                <a:lnTo>
                  <a:pt x="0" y="1532388"/>
                </a:lnTo>
                <a:lnTo>
                  <a:pt x="0" y="0"/>
                </a:lnTo>
                <a:close/>
              </a:path>
            </a:pathLst>
          </a:custGeom>
          <a:blipFill>
            <a:blip r:embed="rId2"/>
            <a:stretch>
              <a:fillRect l="0" t="0" r="0" b="0"/>
            </a:stretch>
          </a:blipFill>
        </p:spPr>
      </p:sp>
      <p:sp>
        <p:nvSpPr>
          <p:cNvPr name="Freeform 3" id="3"/>
          <p:cNvSpPr/>
          <p:nvPr/>
        </p:nvSpPr>
        <p:spPr>
          <a:xfrm flipH="false" flipV="false" rot="0">
            <a:off x="12240394" y="3112893"/>
            <a:ext cx="5847388" cy="5216468"/>
          </a:xfrm>
          <a:custGeom>
            <a:avLst/>
            <a:gdLst/>
            <a:ahLst/>
            <a:cxnLst/>
            <a:rect r="r" b="b" t="t" l="l"/>
            <a:pathLst>
              <a:path h="5216468" w="5847388">
                <a:moveTo>
                  <a:pt x="0" y="0"/>
                </a:moveTo>
                <a:lnTo>
                  <a:pt x="5847388" y="0"/>
                </a:lnTo>
                <a:lnTo>
                  <a:pt x="5847388" y="5216469"/>
                </a:lnTo>
                <a:lnTo>
                  <a:pt x="0" y="521646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2762838" y="2392930"/>
            <a:ext cx="2965504" cy="1903314"/>
          </a:xfrm>
          <a:custGeom>
            <a:avLst/>
            <a:gdLst/>
            <a:ahLst/>
            <a:cxnLst/>
            <a:rect r="r" b="b" t="t" l="l"/>
            <a:pathLst>
              <a:path h="1903314" w="2965504">
                <a:moveTo>
                  <a:pt x="0" y="0"/>
                </a:moveTo>
                <a:lnTo>
                  <a:pt x="2965504" y="0"/>
                </a:lnTo>
                <a:lnTo>
                  <a:pt x="2965504" y="1903314"/>
                </a:lnTo>
                <a:lnTo>
                  <a:pt x="0" y="1903314"/>
                </a:lnTo>
                <a:lnTo>
                  <a:pt x="0" y="0"/>
                </a:lnTo>
                <a:close/>
              </a:path>
            </a:pathLst>
          </a:custGeom>
          <a:blipFill>
            <a:blip r:embed="rId2"/>
            <a:stretch>
              <a:fillRect l="0" t="0" r="0" b="0"/>
            </a:stretch>
          </a:blipFill>
        </p:spPr>
      </p:sp>
      <p:sp>
        <p:nvSpPr>
          <p:cNvPr name="Freeform 5" id="5"/>
          <p:cNvSpPr/>
          <p:nvPr/>
        </p:nvSpPr>
        <p:spPr>
          <a:xfrm flipH="false" flipV="false" rot="0">
            <a:off x="13480440" y="2510395"/>
            <a:ext cx="1511251" cy="1562383"/>
          </a:xfrm>
          <a:custGeom>
            <a:avLst/>
            <a:gdLst/>
            <a:ahLst/>
            <a:cxnLst/>
            <a:rect r="r" b="b" t="t" l="l"/>
            <a:pathLst>
              <a:path h="1562383" w="1511251">
                <a:moveTo>
                  <a:pt x="0" y="0"/>
                </a:moveTo>
                <a:lnTo>
                  <a:pt x="1511251" y="0"/>
                </a:lnTo>
                <a:lnTo>
                  <a:pt x="1511251" y="1562383"/>
                </a:lnTo>
                <a:lnTo>
                  <a:pt x="0" y="156238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8188939">
            <a:off x="-908521" y="-200553"/>
            <a:ext cx="2944364" cy="1531731"/>
          </a:xfrm>
          <a:custGeom>
            <a:avLst/>
            <a:gdLst/>
            <a:ahLst/>
            <a:cxnLst/>
            <a:rect r="r" b="b" t="t" l="l"/>
            <a:pathLst>
              <a:path h="1531731" w="2944364">
                <a:moveTo>
                  <a:pt x="0" y="0"/>
                </a:moveTo>
                <a:lnTo>
                  <a:pt x="2944363" y="0"/>
                </a:lnTo>
                <a:lnTo>
                  <a:pt x="2944363" y="1531731"/>
                </a:lnTo>
                <a:lnTo>
                  <a:pt x="0" y="153173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7" id="7"/>
          <p:cNvGrpSpPr/>
          <p:nvPr/>
        </p:nvGrpSpPr>
        <p:grpSpPr>
          <a:xfrm rot="0">
            <a:off x="1028700" y="4054339"/>
            <a:ext cx="2451971" cy="4275023"/>
            <a:chOff x="0" y="0"/>
            <a:chExt cx="742669" cy="1294847"/>
          </a:xfrm>
        </p:grpSpPr>
        <p:sp>
          <p:nvSpPr>
            <p:cNvPr name="Freeform 8" id="8"/>
            <p:cNvSpPr/>
            <p:nvPr/>
          </p:nvSpPr>
          <p:spPr>
            <a:xfrm flipH="false" flipV="false" rot="0">
              <a:off x="0" y="0"/>
              <a:ext cx="742669" cy="1294847"/>
            </a:xfrm>
            <a:custGeom>
              <a:avLst/>
              <a:gdLst/>
              <a:ahLst/>
              <a:cxnLst/>
              <a:rect r="r" b="b" t="t" l="l"/>
              <a:pathLst>
                <a:path h="1294847" w="742669">
                  <a:moveTo>
                    <a:pt x="72621" y="0"/>
                  </a:moveTo>
                  <a:lnTo>
                    <a:pt x="670048" y="0"/>
                  </a:lnTo>
                  <a:cubicBezTo>
                    <a:pt x="689309" y="0"/>
                    <a:pt x="707780" y="7651"/>
                    <a:pt x="721399" y="21270"/>
                  </a:cubicBezTo>
                  <a:cubicBezTo>
                    <a:pt x="735018" y="34889"/>
                    <a:pt x="742669" y="53361"/>
                    <a:pt x="742669" y="72621"/>
                  </a:cubicBezTo>
                  <a:lnTo>
                    <a:pt x="742669" y="1222226"/>
                  </a:lnTo>
                  <a:cubicBezTo>
                    <a:pt x="742669" y="1262334"/>
                    <a:pt x="710156" y="1294847"/>
                    <a:pt x="670048" y="1294847"/>
                  </a:cubicBezTo>
                  <a:lnTo>
                    <a:pt x="72621" y="1294847"/>
                  </a:lnTo>
                  <a:cubicBezTo>
                    <a:pt x="32513" y="1294847"/>
                    <a:pt x="0" y="1262334"/>
                    <a:pt x="0" y="1222226"/>
                  </a:cubicBezTo>
                  <a:lnTo>
                    <a:pt x="0" y="72621"/>
                  </a:lnTo>
                  <a:cubicBezTo>
                    <a:pt x="0" y="32513"/>
                    <a:pt x="32513" y="0"/>
                    <a:pt x="72621" y="0"/>
                  </a:cubicBezTo>
                  <a:close/>
                </a:path>
              </a:pathLst>
            </a:custGeom>
            <a:blipFill>
              <a:blip r:embed="rId9"/>
              <a:stretch>
                <a:fillRect l="0" t="-270" r="0" b="-270"/>
              </a:stretch>
            </a:blipFill>
          </p:spPr>
        </p:sp>
      </p:grpSp>
      <p:sp>
        <p:nvSpPr>
          <p:cNvPr name="TextBox 9" id="9"/>
          <p:cNvSpPr txBox="true"/>
          <p:nvPr/>
        </p:nvSpPr>
        <p:spPr>
          <a:xfrm rot="0">
            <a:off x="724610" y="2307205"/>
            <a:ext cx="3900639" cy="1137944"/>
          </a:xfrm>
          <a:prstGeom prst="rect">
            <a:avLst/>
          </a:prstGeom>
        </p:spPr>
        <p:txBody>
          <a:bodyPr anchor="t" rtlCol="false" tIns="0" lIns="0" bIns="0" rIns="0">
            <a:spAutoFit/>
          </a:bodyPr>
          <a:lstStyle/>
          <a:p>
            <a:pPr algn="l">
              <a:lnSpc>
                <a:spcPts val="4487"/>
              </a:lnSpc>
            </a:pPr>
            <a:r>
              <a:rPr lang="en-US" sz="3205" spc="253">
                <a:solidFill>
                  <a:srgbClr val="FFFFFF"/>
                </a:solidFill>
                <a:latin typeface="Times New Roman"/>
                <a:ea typeface="Times New Roman"/>
                <a:cs typeface="Times New Roman"/>
                <a:sym typeface="Times New Roman"/>
              </a:rPr>
              <a:t>for i in range(4):</a:t>
            </a:r>
          </a:p>
          <a:p>
            <a:pPr algn="l">
              <a:lnSpc>
                <a:spcPts val="4487"/>
              </a:lnSpc>
            </a:pPr>
            <a:r>
              <a:rPr lang="en-US" sz="3205" spc="253">
                <a:solidFill>
                  <a:srgbClr val="FFFFFF"/>
                </a:solidFill>
                <a:latin typeface="Times New Roman"/>
                <a:ea typeface="Times New Roman"/>
                <a:cs typeface="Times New Roman"/>
                <a:sym typeface="Times New Roman"/>
              </a:rPr>
              <a:t>  </a:t>
            </a:r>
            <a:r>
              <a:rPr lang="en-US" sz="3205" spc="253">
                <a:solidFill>
                  <a:srgbClr val="FFFFFF"/>
                </a:solidFill>
                <a:latin typeface="Times New Roman"/>
                <a:ea typeface="Times New Roman"/>
                <a:cs typeface="Times New Roman"/>
                <a:sym typeface="Times New Roman"/>
              </a:rPr>
              <a:t>print("halo")</a:t>
            </a:r>
          </a:p>
        </p:txBody>
      </p:sp>
      <p:sp>
        <p:nvSpPr>
          <p:cNvPr name="TextBox 10" id="10"/>
          <p:cNvSpPr txBox="true"/>
          <p:nvPr/>
        </p:nvSpPr>
        <p:spPr>
          <a:xfrm rot="0">
            <a:off x="1028700" y="1104900"/>
            <a:ext cx="11575188" cy="679450"/>
          </a:xfrm>
          <a:prstGeom prst="rect">
            <a:avLst/>
          </a:prstGeom>
        </p:spPr>
        <p:txBody>
          <a:bodyPr anchor="t" rtlCol="false" tIns="0" lIns="0" bIns="0" rIns="0">
            <a:spAutoFit/>
          </a:bodyPr>
          <a:lstStyle/>
          <a:p>
            <a:pPr algn="l">
              <a:lnSpc>
                <a:spcPts val="5000"/>
              </a:lnSpc>
            </a:pPr>
            <a:r>
              <a:rPr lang="en-US" sz="5000" spc="140" b="true">
                <a:solidFill>
                  <a:srgbClr val="FFFFFF"/>
                </a:solidFill>
                <a:latin typeface="Tomorrow Bold"/>
                <a:ea typeface="Tomorrow Bold"/>
                <a:cs typeface="Tomorrow Bold"/>
                <a:sym typeface="Tomorrow Bold"/>
              </a:rPr>
              <a:t>Cara Kerja Perulangan</a:t>
            </a:r>
          </a:p>
        </p:txBody>
      </p:sp>
      <p:sp>
        <p:nvSpPr>
          <p:cNvPr name="TextBox 11" id="11"/>
          <p:cNvSpPr txBox="true"/>
          <p:nvPr/>
        </p:nvSpPr>
        <p:spPr>
          <a:xfrm rot="0">
            <a:off x="15293488" y="7703410"/>
            <a:ext cx="1586091" cy="625952"/>
          </a:xfrm>
          <a:prstGeom prst="rect">
            <a:avLst/>
          </a:prstGeom>
        </p:spPr>
        <p:txBody>
          <a:bodyPr anchor="t" rtlCol="false" tIns="0" lIns="0" bIns="0" rIns="0">
            <a:spAutoFit/>
          </a:bodyPr>
          <a:lstStyle/>
          <a:p>
            <a:pPr algn="ctr">
              <a:lnSpc>
                <a:spcPts val="5163"/>
              </a:lnSpc>
            </a:pPr>
            <a:r>
              <a:rPr lang="en-US" sz="3688">
                <a:solidFill>
                  <a:srgbClr val="FFFFFF"/>
                </a:solidFill>
                <a:latin typeface="Pattanakarn"/>
                <a:ea typeface="Pattanakarn"/>
                <a:cs typeface="Pattanakarn"/>
                <a:sym typeface="Pattanakarn"/>
              </a:rPr>
              <a:t>CODE</a:t>
            </a:r>
          </a:p>
        </p:txBody>
      </p:sp>
      <p:sp>
        <p:nvSpPr>
          <p:cNvPr name="TextBox 12" id="12"/>
          <p:cNvSpPr txBox="true"/>
          <p:nvPr/>
        </p:nvSpPr>
        <p:spPr>
          <a:xfrm rot="0">
            <a:off x="4541185" y="2187385"/>
            <a:ext cx="8062702" cy="5213355"/>
          </a:xfrm>
          <a:prstGeom prst="rect">
            <a:avLst/>
          </a:prstGeom>
        </p:spPr>
        <p:txBody>
          <a:bodyPr anchor="t" rtlCol="false" tIns="0" lIns="0" bIns="0" rIns="0">
            <a:spAutoFit/>
          </a:bodyPr>
          <a:lstStyle/>
          <a:p>
            <a:pPr algn="l" marL="708198" indent="-354099" lvl="1">
              <a:lnSpc>
                <a:spcPts val="4592"/>
              </a:lnSpc>
              <a:buFont typeface="Arial"/>
              <a:buChar char="•"/>
            </a:pPr>
            <a:r>
              <a:rPr lang="en-US" sz="3280" spc="259">
                <a:solidFill>
                  <a:srgbClr val="FFFFFF"/>
                </a:solidFill>
                <a:latin typeface="Times New Roman"/>
                <a:ea typeface="Times New Roman"/>
                <a:cs typeface="Times New Roman"/>
                <a:sym typeface="Times New Roman"/>
              </a:rPr>
              <a:t>for berarti memulai perulangan.</a:t>
            </a:r>
          </a:p>
          <a:p>
            <a:pPr algn="l" marL="708198" indent="-354099" lvl="1">
              <a:lnSpc>
                <a:spcPts val="4592"/>
              </a:lnSpc>
              <a:buFont typeface="Arial"/>
              <a:buChar char="•"/>
            </a:pPr>
            <a:r>
              <a:rPr lang="en-US" sz="3280" spc="259">
                <a:solidFill>
                  <a:srgbClr val="FFFFFF"/>
                </a:solidFill>
                <a:latin typeface="Times New Roman"/>
                <a:ea typeface="Times New Roman"/>
                <a:cs typeface="Times New Roman"/>
                <a:sym typeface="Times New Roman"/>
              </a:rPr>
              <a:t>i adalah variabel yang menyimpan nilai setiap perulangan.</a:t>
            </a:r>
          </a:p>
          <a:p>
            <a:pPr algn="l" marL="708198" indent="-354099" lvl="1">
              <a:lnSpc>
                <a:spcPts val="4592"/>
              </a:lnSpc>
              <a:buFont typeface="Arial"/>
              <a:buChar char="•"/>
            </a:pPr>
            <a:r>
              <a:rPr lang="en-US" sz="3280" spc="259">
                <a:solidFill>
                  <a:srgbClr val="FFFFFF"/>
                </a:solidFill>
                <a:latin typeface="Times New Roman"/>
                <a:ea typeface="Times New Roman"/>
                <a:cs typeface="Times New Roman"/>
                <a:sym typeface="Times New Roman"/>
              </a:rPr>
              <a:t>range(4) menghasilkan urutan angka 0, 1, 2, 3.</a:t>
            </a:r>
          </a:p>
          <a:p>
            <a:pPr algn="l" marL="708198" indent="-354099" lvl="1">
              <a:lnSpc>
                <a:spcPts val="4592"/>
              </a:lnSpc>
              <a:buFont typeface="Arial"/>
              <a:buChar char="•"/>
            </a:pPr>
            <a:r>
              <a:rPr lang="en-US" sz="3280" spc="259">
                <a:solidFill>
                  <a:srgbClr val="FFFFFF"/>
                </a:solidFill>
                <a:latin typeface="Times New Roman"/>
                <a:ea typeface="Times New Roman"/>
                <a:cs typeface="Times New Roman"/>
                <a:sym typeface="Times New Roman"/>
              </a:rPr>
              <a:t>print("halo") menampilkan tulisan halo setiap kali perulangan dijalankan.</a:t>
            </a:r>
          </a:p>
          <a:p>
            <a:pPr algn="l">
              <a:lnSpc>
                <a:spcPts val="4592"/>
              </a:lnSpc>
            </a:pPr>
          </a:p>
        </p:txBody>
      </p:sp>
    </p:spTree>
  </p:cSld>
  <p:clrMapOvr>
    <a:masterClrMapping/>
  </p:clrMapOvr>
  <p:transition spd="fast">
    <p:fade/>
  </p:transition>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0385E"/>
        </a:solidFill>
      </p:bgPr>
    </p:bg>
    <p:spTree>
      <p:nvGrpSpPr>
        <p:cNvPr id="1" name=""/>
        <p:cNvGrpSpPr/>
        <p:nvPr/>
      </p:nvGrpSpPr>
      <p:grpSpPr>
        <a:xfrm>
          <a:off x="0" y="0"/>
          <a:ext cx="0" cy="0"/>
          <a:chOff x="0" y="0"/>
          <a:chExt cx="0" cy="0"/>
        </a:xfrm>
      </p:grpSpPr>
      <p:sp>
        <p:nvSpPr>
          <p:cNvPr name="Freeform 2" id="2"/>
          <p:cNvSpPr/>
          <p:nvPr/>
        </p:nvSpPr>
        <p:spPr>
          <a:xfrm flipH="false" flipV="false" rot="0">
            <a:off x="15436148" y="-2196781"/>
            <a:ext cx="5043482" cy="5175215"/>
          </a:xfrm>
          <a:custGeom>
            <a:avLst/>
            <a:gdLst/>
            <a:ahLst/>
            <a:cxnLst/>
            <a:rect r="r" b="b" t="t" l="l"/>
            <a:pathLst>
              <a:path h="5175215" w="5043482">
                <a:moveTo>
                  <a:pt x="0" y="0"/>
                </a:moveTo>
                <a:lnTo>
                  <a:pt x="5043482" y="0"/>
                </a:lnTo>
                <a:lnTo>
                  <a:pt x="5043482" y="5175215"/>
                </a:lnTo>
                <a:lnTo>
                  <a:pt x="0" y="5175215"/>
                </a:lnTo>
                <a:lnTo>
                  <a:pt x="0" y="0"/>
                </a:lnTo>
                <a:close/>
              </a:path>
            </a:pathLst>
          </a:custGeom>
          <a:blipFill>
            <a:blip r:embed="rId2">
              <a:alphaModFix amt="12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13381" y="7536560"/>
            <a:ext cx="5043482" cy="5175215"/>
          </a:xfrm>
          <a:custGeom>
            <a:avLst/>
            <a:gdLst/>
            <a:ahLst/>
            <a:cxnLst/>
            <a:rect r="r" b="b" t="t" l="l"/>
            <a:pathLst>
              <a:path h="5175215" w="5043482">
                <a:moveTo>
                  <a:pt x="0" y="0"/>
                </a:moveTo>
                <a:lnTo>
                  <a:pt x="5043482" y="0"/>
                </a:lnTo>
                <a:lnTo>
                  <a:pt x="5043482" y="5175215"/>
                </a:lnTo>
                <a:lnTo>
                  <a:pt x="0" y="5175215"/>
                </a:lnTo>
                <a:lnTo>
                  <a:pt x="0" y="0"/>
                </a:lnTo>
                <a:close/>
              </a:path>
            </a:pathLst>
          </a:custGeom>
          <a:blipFill>
            <a:blip r:embed="rId2">
              <a:alphaModFix amt="12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322342" y="6009368"/>
            <a:ext cx="3635547" cy="4114800"/>
          </a:xfrm>
          <a:custGeom>
            <a:avLst/>
            <a:gdLst/>
            <a:ahLst/>
            <a:cxnLst/>
            <a:rect r="r" b="b" t="t" l="l"/>
            <a:pathLst>
              <a:path h="4114800" w="3635547">
                <a:moveTo>
                  <a:pt x="0" y="0"/>
                </a:moveTo>
                <a:lnTo>
                  <a:pt x="3635547" y="0"/>
                </a:lnTo>
                <a:lnTo>
                  <a:pt x="3635547"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2127426" y="467026"/>
            <a:ext cx="11575188" cy="679450"/>
          </a:xfrm>
          <a:prstGeom prst="rect">
            <a:avLst/>
          </a:prstGeom>
        </p:spPr>
        <p:txBody>
          <a:bodyPr anchor="t" rtlCol="false" tIns="0" lIns="0" bIns="0" rIns="0">
            <a:spAutoFit/>
          </a:bodyPr>
          <a:lstStyle/>
          <a:p>
            <a:pPr algn="ctr">
              <a:lnSpc>
                <a:spcPts val="5000"/>
              </a:lnSpc>
            </a:pPr>
            <a:r>
              <a:rPr lang="en-US" b="true" sz="5000" spc="140">
                <a:solidFill>
                  <a:srgbClr val="FFFFFF"/>
                </a:solidFill>
                <a:latin typeface="Tomorrow Bold"/>
                <a:ea typeface="Tomorrow Bold"/>
                <a:cs typeface="Tomorrow Bold"/>
                <a:sym typeface="Tomorrow Bold"/>
              </a:rPr>
              <a:t>Program Nilai Siswa</a:t>
            </a:r>
          </a:p>
        </p:txBody>
      </p:sp>
      <p:sp>
        <p:nvSpPr>
          <p:cNvPr name="TextBox 6" id="6"/>
          <p:cNvSpPr txBox="true"/>
          <p:nvPr/>
        </p:nvSpPr>
        <p:spPr>
          <a:xfrm rot="0">
            <a:off x="393891" y="1830047"/>
            <a:ext cx="15042258" cy="8026393"/>
          </a:xfrm>
          <a:prstGeom prst="rect">
            <a:avLst/>
          </a:prstGeom>
        </p:spPr>
        <p:txBody>
          <a:bodyPr anchor="t" rtlCol="false" tIns="0" lIns="0" bIns="0" rIns="0">
            <a:spAutoFit/>
          </a:bodyPr>
          <a:lstStyle/>
          <a:p>
            <a:pPr algn="ctr">
              <a:lnSpc>
                <a:spcPts val="2892"/>
              </a:lnSpc>
            </a:pPr>
            <a:r>
              <a:rPr lang="en-US" b="true" sz="2892" spc="80">
                <a:solidFill>
                  <a:srgbClr val="FFFFFF"/>
                </a:solidFill>
                <a:latin typeface="Tomorrow Bold"/>
                <a:ea typeface="Tomorrow Bold"/>
                <a:cs typeface="Tomorrow Bold"/>
                <a:sym typeface="Tomorrow Bold"/>
              </a:rPr>
              <a:t>data_siswa = [</a:t>
            </a:r>
          </a:p>
          <a:p>
            <a:pPr algn="ctr">
              <a:lnSpc>
                <a:spcPts val="2892"/>
              </a:lnSpc>
            </a:pPr>
            <a:r>
              <a:rPr lang="en-US" b="true" sz="2892" spc="80">
                <a:solidFill>
                  <a:srgbClr val="FFFFFF"/>
                </a:solidFill>
                <a:latin typeface="Tomorrow Bold"/>
                <a:ea typeface="Tomorrow Bold"/>
                <a:cs typeface="Tomorrow Bold"/>
                <a:sym typeface="Tomorrow Bold"/>
              </a:rPr>
              <a:t>  {"nama": "budi", "nilai": 83},</a:t>
            </a:r>
          </a:p>
          <a:p>
            <a:pPr algn="ctr">
              <a:lnSpc>
                <a:spcPts val="2892"/>
              </a:lnSpc>
            </a:pPr>
            <a:r>
              <a:rPr lang="en-US" b="true" sz="2892" spc="80">
                <a:solidFill>
                  <a:srgbClr val="FFFFFF"/>
                </a:solidFill>
                <a:latin typeface="Tomorrow Bold"/>
                <a:ea typeface="Tomorrow Bold"/>
                <a:cs typeface="Tomorrow Bold"/>
                <a:sym typeface="Tomorrow Bold"/>
              </a:rPr>
              <a:t>  {"nama": "anto", "nilai": 90},</a:t>
            </a:r>
          </a:p>
          <a:p>
            <a:pPr algn="ctr">
              <a:lnSpc>
                <a:spcPts val="2892"/>
              </a:lnSpc>
            </a:pPr>
            <a:r>
              <a:rPr lang="en-US" b="true" sz="2892" spc="80">
                <a:solidFill>
                  <a:srgbClr val="FFFFFF"/>
                </a:solidFill>
                <a:latin typeface="Tomorrow Bold"/>
                <a:ea typeface="Tomorrow Bold"/>
                <a:cs typeface="Tomorrow Bold"/>
                <a:sym typeface="Tomorrow Bold"/>
              </a:rPr>
              <a:t>  {"nama": "rara", "nilai": 76},</a:t>
            </a:r>
          </a:p>
          <a:p>
            <a:pPr algn="ctr">
              <a:lnSpc>
                <a:spcPts val="2892"/>
              </a:lnSpc>
            </a:pPr>
            <a:r>
              <a:rPr lang="en-US" b="true" sz="2892" spc="80">
                <a:solidFill>
                  <a:srgbClr val="FFFFFF"/>
                </a:solidFill>
                <a:latin typeface="Tomorrow Bold"/>
                <a:ea typeface="Tomorrow Bold"/>
                <a:cs typeface="Tomorrow Bold"/>
                <a:sym typeface="Tomorrow Bold"/>
              </a:rPr>
              <a:t>  {"nama": "fi</a:t>
            </a:r>
            <a:r>
              <a:rPr lang="en-US" b="true" sz="2892" spc="80">
                <a:solidFill>
                  <a:srgbClr val="FFFFFF"/>
                </a:solidFill>
                <a:latin typeface="Tomorrow Bold"/>
                <a:ea typeface="Tomorrow Bold"/>
                <a:cs typeface="Tomorrow Bold"/>
                <a:sym typeface="Tomorrow Bold"/>
              </a:rPr>
              <a:t>ra", "nilai": 65}</a:t>
            </a:r>
          </a:p>
          <a:p>
            <a:pPr algn="ctr">
              <a:lnSpc>
                <a:spcPts val="2892"/>
              </a:lnSpc>
            </a:pPr>
            <a:r>
              <a:rPr lang="en-US" b="true" sz="2892" spc="80">
                <a:solidFill>
                  <a:srgbClr val="FFFFFF"/>
                </a:solidFill>
                <a:latin typeface="Tomorrow Bold"/>
                <a:ea typeface="Tomorrow Bold"/>
                <a:cs typeface="Tomorrow Bold"/>
                <a:sym typeface="Tomorrow Bold"/>
              </a:rPr>
              <a:t>]</a:t>
            </a:r>
          </a:p>
          <a:p>
            <a:pPr algn="ctr">
              <a:lnSpc>
                <a:spcPts val="2892"/>
              </a:lnSpc>
            </a:pPr>
          </a:p>
          <a:p>
            <a:pPr algn="ctr">
              <a:lnSpc>
                <a:spcPts val="2892"/>
              </a:lnSpc>
            </a:pPr>
            <a:r>
              <a:rPr lang="en-US" b="true" sz="2892" spc="80">
                <a:solidFill>
                  <a:srgbClr val="FFFFFF"/>
                </a:solidFill>
                <a:latin typeface="Tomorrow Bold"/>
                <a:ea typeface="Tomorrow Bold"/>
                <a:cs typeface="Tomorrow Bold"/>
                <a:sym typeface="Tomorrow Bold"/>
              </a:rPr>
              <a:t>kkm = 75</a:t>
            </a:r>
          </a:p>
          <a:p>
            <a:pPr algn="ctr">
              <a:lnSpc>
                <a:spcPts val="2892"/>
              </a:lnSpc>
            </a:pPr>
          </a:p>
          <a:p>
            <a:pPr algn="ctr">
              <a:lnSpc>
                <a:spcPts val="2892"/>
              </a:lnSpc>
            </a:pPr>
            <a:r>
              <a:rPr lang="en-US" b="true" sz="2892" spc="80">
                <a:solidFill>
                  <a:srgbClr val="FFFFFF"/>
                </a:solidFill>
                <a:latin typeface="Tomorrow Bold"/>
                <a:ea typeface="Tomorrow Bold"/>
                <a:cs typeface="Tomorrow Bold"/>
                <a:sym typeface="Tomorrow Bold"/>
              </a:rPr>
              <a:t>print("===Data Nilai Siswa===")</a:t>
            </a:r>
          </a:p>
          <a:p>
            <a:pPr algn="ctr">
              <a:lnSpc>
                <a:spcPts val="2892"/>
              </a:lnSpc>
            </a:pPr>
          </a:p>
          <a:p>
            <a:pPr algn="ctr">
              <a:lnSpc>
                <a:spcPts val="2892"/>
              </a:lnSpc>
            </a:pPr>
            <a:r>
              <a:rPr lang="en-US" b="true" sz="2892" spc="80">
                <a:solidFill>
                  <a:srgbClr val="FFFFFF"/>
                </a:solidFill>
                <a:latin typeface="Tomorrow Bold"/>
                <a:ea typeface="Tomorrow Bold"/>
                <a:cs typeface="Tomorrow Bold"/>
                <a:sym typeface="Tomorrow Bold"/>
              </a:rPr>
              <a:t>for siswa in data_siswa:</a:t>
            </a:r>
          </a:p>
          <a:p>
            <a:pPr algn="ctr">
              <a:lnSpc>
                <a:spcPts val="2892"/>
              </a:lnSpc>
            </a:pPr>
            <a:r>
              <a:rPr lang="en-US" b="true" sz="2892" spc="80">
                <a:solidFill>
                  <a:srgbClr val="FFFFFF"/>
                </a:solidFill>
                <a:latin typeface="Tomorrow Bold"/>
                <a:ea typeface="Tomorrow Bold"/>
                <a:cs typeface="Tomorrow Bold"/>
                <a:sym typeface="Tomorrow Bold"/>
              </a:rPr>
              <a:t>  nama = siswa["nama"]</a:t>
            </a:r>
          </a:p>
          <a:p>
            <a:pPr algn="ctr">
              <a:lnSpc>
                <a:spcPts val="2892"/>
              </a:lnSpc>
            </a:pPr>
            <a:r>
              <a:rPr lang="en-US" b="true" sz="2892" spc="80">
                <a:solidFill>
                  <a:srgbClr val="FFFFFF"/>
                </a:solidFill>
                <a:latin typeface="Tomorrow Bold"/>
                <a:ea typeface="Tomorrow Bold"/>
                <a:cs typeface="Tomorrow Bold"/>
                <a:sym typeface="Tomorrow Bold"/>
              </a:rPr>
              <a:t>  nilai = siswa["nilai"]</a:t>
            </a:r>
          </a:p>
          <a:p>
            <a:pPr algn="ctr">
              <a:lnSpc>
                <a:spcPts val="2892"/>
              </a:lnSpc>
            </a:pPr>
          </a:p>
          <a:p>
            <a:pPr algn="ctr">
              <a:lnSpc>
                <a:spcPts val="2892"/>
              </a:lnSpc>
            </a:pPr>
            <a:r>
              <a:rPr lang="en-US" b="true" sz="2892" spc="80">
                <a:solidFill>
                  <a:srgbClr val="FFFFFF"/>
                </a:solidFill>
                <a:latin typeface="Tomorrow Bold"/>
                <a:ea typeface="Tomorrow Bold"/>
                <a:cs typeface="Tomorrow Bold"/>
                <a:sym typeface="Tomorrow Bold"/>
              </a:rPr>
              <a:t>  if nilai &gt;= kkm:</a:t>
            </a:r>
          </a:p>
          <a:p>
            <a:pPr algn="ctr">
              <a:lnSpc>
                <a:spcPts val="2892"/>
              </a:lnSpc>
            </a:pPr>
            <a:r>
              <a:rPr lang="en-US" b="true" sz="2892" spc="80">
                <a:solidFill>
                  <a:srgbClr val="FFFFFF"/>
                </a:solidFill>
                <a:latin typeface="Tomorrow Bold"/>
                <a:ea typeface="Tomorrow Bold"/>
                <a:cs typeface="Tomorrow Bold"/>
                <a:sym typeface="Tomorrow Bold"/>
              </a:rPr>
              <a:t>    keterangan = "Lulus"</a:t>
            </a:r>
          </a:p>
          <a:p>
            <a:pPr algn="ctr">
              <a:lnSpc>
                <a:spcPts val="2892"/>
              </a:lnSpc>
            </a:pPr>
            <a:r>
              <a:rPr lang="en-US" b="true" sz="2892" spc="80">
                <a:solidFill>
                  <a:srgbClr val="FFFFFF"/>
                </a:solidFill>
                <a:latin typeface="Tomorrow Bold"/>
                <a:ea typeface="Tomorrow Bold"/>
                <a:cs typeface="Tomorrow Bold"/>
                <a:sym typeface="Tomorrow Bold"/>
              </a:rPr>
              <a:t>  else:</a:t>
            </a:r>
          </a:p>
          <a:p>
            <a:pPr algn="ctr">
              <a:lnSpc>
                <a:spcPts val="2892"/>
              </a:lnSpc>
            </a:pPr>
            <a:r>
              <a:rPr lang="en-US" b="true" sz="2892" spc="80">
                <a:solidFill>
                  <a:srgbClr val="FFFFFF"/>
                </a:solidFill>
                <a:latin typeface="Tomorrow Bold"/>
                <a:ea typeface="Tomorrow Bold"/>
                <a:cs typeface="Tomorrow Bold"/>
                <a:sym typeface="Tomorrow Bold"/>
              </a:rPr>
              <a:t>    keterangan = "Tidak Lulus"</a:t>
            </a:r>
          </a:p>
          <a:p>
            <a:pPr algn="ctr">
              <a:lnSpc>
                <a:spcPts val="2892"/>
              </a:lnSpc>
            </a:pPr>
          </a:p>
          <a:p>
            <a:pPr algn="ctr">
              <a:lnSpc>
                <a:spcPts val="2892"/>
              </a:lnSpc>
            </a:pPr>
            <a:r>
              <a:rPr lang="en-US" b="true" sz="2892" spc="80">
                <a:solidFill>
                  <a:srgbClr val="FFFFFF"/>
                </a:solidFill>
                <a:latin typeface="Tomorrow Bold"/>
                <a:ea typeface="Tomorrow Bold"/>
                <a:cs typeface="Tomorrow Bold"/>
                <a:sym typeface="Tomorrow Bold"/>
              </a:rPr>
              <a:t>  print(f"nama: {nama:&lt;4} | nilai: {nilai} | keterangan: {keterangan}")</a:t>
            </a:r>
          </a:p>
          <a:p>
            <a:pPr algn="ctr">
              <a:lnSpc>
                <a:spcPts val="2892"/>
              </a:lnSpc>
            </a:pPr>
          </a:p>
        </p:txBody>
      </p:sp>
    </p:spTree>
  </p:cSld>
  <p:clrMapOvr>
    <a:masterClrMapping/>
  </p:clrMapOvr>
  <p:transition spd="fast">
    <p:fade/>
  </p:transition>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0385E"/>
        </a:solidFill>
      </p:bgPr>
    </p:bg>
    <p:spTree>
      <p:nvGrpSpPr>
        <p:cNvPr id="1" name=""/>
        <p:cNvGrpSpPr/>
        <p:nvPr/>
      </p:nvGrpSpPr>
      <p:grpSpPr>
        <a:xfrm>
          <a:off x="0" y="0"/>
          <a:ext cx="0" cy="0"/>
          <a:chOff x="0" y="0"/>
          <a:chExt cx="0" cy="0"/>
        </a:xfrm>
      </p:grpSpPr>
      <p:sp>
        <p:nvSpPr>
          <p:cNvPr name="TextBox 2" id="2"/>
          <p:cNvSpPr txBox="true"/>
          <p:nvPr/>
        </p:nvSpPr>
        <p:spPr>
          <a:xfrm rot="0">
            <a:off x="2886811" y="536327"/>
            <a:ext cx="11575188" cy="679450"/>
          </a:xfrm>
          <a:prstGeom prst="rect">
            <a:avLst/>
          </a:prstGeom>
        </p:spPr>
        <p:txBody>
          <a:bodyPr anchor="t" rtlCol="false" tIns="0" lIns="0" bIns="0" rIns="0">
            <a:spAutoFit/>
          </a:bodyPr>
          <a:lstStyle/>
          <a:p>
            <a:pPr algn="ctr">
              <a:lnSpc>
                <a:spcPts val="5000"/>
              </a:lnSpc>
            </a:pPr>
            <a:r>
              <a:rPr lang="en-US" b="true" sz="5000" spc="140">
                <a:solidFill>
                  <a:srgbClr val="FFFFFF"/>
                </a:solidFill>
                <a:latin typeface="Tomorrow Bold"/>
                <a:ea typeface="Tomorrow Bold"/>
                <a:cs typeface="Tomorrow Bold"/>
                <a:sym typeface="Tomorrow Bold"/>
              </a:rPr>
              <a:t>Penjelasan Setiap baris</a:t>
            </a:r>
          </a:p>
        </p:txBody>
      </p:sp>
      <p:sp>
        <p:nvSpPr>
          <p:cNvPr name="Freeform 3" id="3"/>
          <p:cNvSpPr/>
          <p:nvPr/>
        </p:nvSpPr>
        <p:spPr>
          <a:xfrm flipH="false" flipV="false" rot="0">
            <a:off x="-1687076" y="6670693"/>
            <a:ext cx="5043482" cy="5175215"/>
          </a:xfrm>
          <a:custGeom>
            <a:avLst/>
            <a:gdLst/>
            <a:ahLst/>
            <a:cxnLst/>
            <a:rect r="r" b="b" t="t" l="l"/>
            <a:pathLst>
              <a:path h="5175215" w="5043482">
                <a:moveTo>
                  <a:pt x="0" y="0"/>
                </a:moveTo>
                <a:lnTo>
                  <a:pt x="5043482" y="0"/>
                </a:lnTo>
                <a:lnTo>
                  <a:pt x="5043482" y="5175214"/>
                </a:lnTo>
                <a:lnTo>
                  <a:pt x="0" y="5175214"/>
                </a:lnTo>
                <a:lnTo>
                  <a:pt x="0" y="0"/>
                </a:lnTo>
                <a:close/>
              </a:path>
            </a:pathLst>
          </a:custGeom>
          <a:blipFill>
            <a:blip r:embed="rId2">
              <a:alphaModFix amt="12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931594" y="-2127481"/>
            <a:ext cx="5043482" cy="5175215"/>
          </a:xfrm>
          <a:custGeom>
            <a:avLst/>
            <a:gdLst/>
            <a:ahLst/>
            <a:cxnLst/>
            <a:rect r="r" b="b" t="t" l="l"/>
            <a:pathLst>
              <a:path h="5175215" w="5043482">
                <a:moveTo>
                  <a:pt x="0" y="0"/>
                </a:moveTo>
                <a:lnTo>
                  <a:pt x="5043482" y="0"/>
                </a:lnTo>
                <a:lnTo>
                  <a:pt x="5043482" y="5175215"/>
                </a:lnTo>
                <a:lnTo>
                  <a:pt x="0" y="5175215"/>
                </a:lnTo>
                <a:lnTo>
                  <a:pt x="0" y="0"/>
                </a:lnTo>
                <a:close/>
              </a:path>
            </a:pathLst>
          </a:custGeom>
          <a:blipFill>
            <a:blip r:embed="rId2">
              <a:alphaModFix amt="12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false" rot="0">
            <a:off x="-1133224" y="-1049885"/>
            <a:ext cx="3550441" cy="3421334"/>
          </a:xfrm>
          <a:custGeom>
            <a:avLst/>
            <a:gdLst/>
            <a:ahLst/>
            <a:cxnLst/>
            <a:rect r="r" b="b" t="t" l="l"/>
            <a:pathLst>
              <a:path h="3421334" w="3550441">
                <a:moveTo>
                  <a:pt x="3550441" y="0"/>
                </a:moveTo>
                <a:lnTo>
                  <a:pt x="0" y="0"/>
                </a:lnTo>
                <a:lnTo>
                  <a:pt x="0" y="3421334"/>
                </a:lnTo>
                <a:lnTo>
                  <a:pt x="3550441" y="3421334"/>
                </a:lnTo>
                <a:lnTo>
                  <a:pt x="3550441" y="0"/>
                </a:lnTo>
                <a:close/>
              </a:path>
            </a:pathLst>
          </a:custGeom>
          <a:blipFill>
            <a:blip r:embed="rId4">
              <a:alphaModFix amt="29000"/>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true" rot="0">
            <a:off x="15482616" y="8116573"/>
            <a:ext cx="3550441" cy="3421334"/>
          </a:xfrm>
          <a:custGeom>
            <a:avLst/>
            <a:gdLst/>
            <a:ahLst/>
            <a:cxnLst/>
            <a:rect r="r" b="b" t="t" l="l"/>
            <a:pathLst>
              <a:path h="3421334" w="3550441">
                <a:moveTo>
                  <a:pt x="0" y="3421334"/>
                </a:moveTo>
                <a:lnTo>
                  <a:pt x="3550441" y="3421334"/>
                </a:lnTo>
                <a:lnTo>
                  <a:pt x="3550441" y="0"/>
                </a:lnTo>
                <a:lnTo>
                  <a:pt x="0" y="0"/>
                </a:lnTo>
                <a:lnTo>
                  <a:pt x="0" y="3421334"/>
                </a:lnTo>
                <a:close/>
              </a:path>
            </a:pathLst>
          </a:custGeom>
          <a:blipFill>
            <a:blip r:embed="rId4">
              <a:alphaModFix amt="29000"/>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681416" y="1953171"/>
            <a:ext cx="14925167" cy="6892028"/>
          </a:xfrm>
          <a:prstGeom prst="rect">
            <a:avLst/>
          </a:prstGeom>
        </p:spPr>
        <p:txBody>
          <a:bodyPr anchor="t" rtlCol="false" tIns="0" lIns="0" bIns="0" rIns="0">
            <a:spAutoFit/>
          </a:bodyPr>
          <a:lstStyle/>
          <a:p>
            <a:pPr algn="ctr">
              <a:lnSpc>
                <a:spcPts val="2277"/>
              </a:lnSpc>
            </a:pPr>
            <a:r>
              <a:rPr lang="en-US" b="true" sz="2277" spc="63">
                <a:solidFill>
                  <a:srgbClr val="FFFFFF"/>
                </a:solidFill>
                <a:latin typeface="Tomorrow Bold"/>
                <a:ea typeface="Tomorrow Bold"/>
                <a:cs typeface="Tomorrow Bold"/>
                <a:sym typeface="Tomorrow Bold"/>
              </a:rPr>
              <a:t>Penjelasan Program Data Nilai Siswa</a:t>
            </a:r>
          </a:p>
          <a:p>
            <a:pPr algn="ctr">
              <a:lnSpc>
                <a:spcPts val="2277"/>
              </a:lnSpc>
            </a:pPr>
          </a:p>
          <a:p>
            <a:pPr algn="ctr">
              <a:lnSpc>
                <a:spcPts val="2277"/>
              </a:lnSpc>
            </a:pPr>
            <a:r>
              <a:rPr lang="en-US" b="true" sz="2277" spc="63">
                <a:solidFill>
                  <a:srgbClr val="FFFFFF"/>
                </a:solidFill>
                <a:latin typeface="Tomorrow Bold"/>
                <a:ea typeface="Tomorrow Bold"/>
                <a:cs typeface="Tomorrow Bold"/>
                <a:sym typeface="Tomorrow Bold"/>
              </a:rPr>
              <a:t>Pertama, "data_siswa" berisi kumpulan data siswa yang akan diproses, yaitu nama dan nilai masing-masing siswa.</a:t>
            </a:r>
          </a:p>
          <a:p>
            <a:pPr algn="ctr">
              <a:lnSpc>
                <a:spcPts val="2277"/>
              </a:lnSpc>
            </a:pPr>
          </a:p>
          <a:p>
            <a:pPr algn="ctr">
              <a:lnSpc>
                <a:spcPts val="2277"/>
              </a:lnSpc>
            </a:pPr>
            <a:r>
              <a:rPr lang="en-US" b="true" sz="2277" spc="63">
                <a:solidFill>
                  <a:srgbClr val="FFFFFF"/>
                </a:solidFill>
                <a:latin typeface="Tomorrow Bold"/>
                <a:ea typeface="Tomorrow Bold"/>
                <a:cs typeface="Tomorrow Bold"/>
                <a:sym typeface="Tomorrow Bold"/>
              </a:rPr>
              <a:t>Kedua, "kkm = 75" berarti nilai minimum yang harus dicapai siswa agar dinyatakan lulus.</a:t>
            </a:r>
          </a:p>
          <a:p>
            <a:pPr algn="ctr">
              <a:lnSpc>
                <a:spcPts val="2277"/>
              </a:lnSpc>
            </a:pPr>
          </a:p>
          <a:p>
            <a:pPr algn="ctr">
              <a:lnSpc>
                <a:spcPts val="2277"/>
              </a:lnSpc>
            </a:pPr>
            <a:r>
              <a:rPr lang="en-US" b="true" sz="2277" spc="63">
                <a:solidFill>
                  <a:srgbClr val="FFFFFF"/>
                </a:solidFill>
                <a:latin typeface="Tomorrow Bold"/>
                <a:ea typeface="Tomorrow Bold"/>
                <a:cs typeface="Tomorrow Bold"/>
                <a:sym typeface="Tomorrow Bold"/>
              </a:rPr>
              <a:t>Ketiga, "print("===Data Nilai Siswa===")" digunakan untuk menampilkan judul program.</a:t>
            </a:r>
          </a:p>
          <a:p>
            <a:pPr algn="ctr">
              <a:lnSpc>
                <a:spcPts val="2277"/>
              </a:lnSpc>
            </a:pPr>
          </a:p>
          <a:p>
            <a:pPr algn="ctr">
              <a:lnSpc>
                <a:spcPts val="2277"/>
              </a:lnSpc>
            </a:pPr>
            <a:r>
              <a:rPr lang="en-US" b="true" sz="2277" spc="63">
                <a:solidFill>
                  <a:srgbClr val="FFFFFF"/>
                </a:solidFill>
                <a:latin typeface="Tomorrow Bold"/>
                <a:ea typeface="Tomorrow Bold"/>
                <a:cs typeface="Tomorrow Bold"/>
                <a:sym typeface="Tomorrow Bold"/>
              </a:rPr>
              <a:t>Keempat, "for siswa in data_siswa" digunakan untuk melakukan perulangan dan mengambil data siswa satu per satu. Kemudian, "nama = siswa["nama"]" digunakan untuk mengambil nama siswa, sedangkan "nilai = siswa["nilai"]" digunakan untuk mengambil nilai siswa. Data tersebut disimpan ke dalam variabel agar bisa digunakan selanjutnya.</a:t>
            </a:r>
          </a:p>
          <a:p>
            <a:pPr algn="ctr">
              <a:lnSpc>
                <a:spcPts val="2277"/>
              </a:lnSpc>
            </a:pPr>
          </a:p>
          <a:p>
            <a:pPr algn="ctr">
              <a:lnSpc>
                <a:spcPts val="2277"/>
              </a:lnSpc>
            </a:pPr>
            <a:r>
              <a:rPr lang="en-US" b="true" sz="2277" spc="63">
                <a:solidFill>
                  <a:srgbClr val="FFFFFF"/>
                </a:solidFill>
                <a:latin typeface="Tomorrow Bold"/>
                <a:ea typeface="Tomorrow Bold"/>
                <a:cs typeface="Tomorrow Bold"/>
                <a:sym typeface="Tomorrow Bold"/>
              </a:rPr>
              <a:t>Kelima, "if nilai &gt;= kkm" digunakan untuk memeriksa apakah nilai siswa lebih besar dari atau sama dengan KKM. Jika kondisi terpenuhi, variabel "keterangan" akan berisi "Lulus". Namun, jika kondisi tidak terpenuhi, bagian "else" akan dijalankan dan variabel "keterangan" akan berisi "Tidak Lulus".</a:t>
            </a:r>
          </a:p>
          <a:p>
            <a:pPr algn="ctr">
              <a:lnSpc>
                <a:spcPts val="2277"/>
              </a:lnSpc>
            </a:pPr>
          </a:p>
          <a:p>
            <a:pPr algn="ctr">
              <a:lnSpc>
                <a:spcPts val="2277"/>
              </a:lnSpc>
            </a:pPr>
            <a:r>
              <a:rPr lang="en-US" b="true" sz="2277" spc="63">
                <a:solidFill>
                  <a:srgbClr val="FFFFFF"/>
                </a:solidFill>
                <a:latin typeface="Tomorrow Bold"/>
                <a:ea typeface="Tomorrow Bold"/>
                <a:cs typeface="Tomorrow Bold"/>
                <a:sym typeface="Tomorrow Bold"/>
              </a:rPr>
              <a:t>Terakhir, "print(f"...")" digunakan untuk menampilkan nama, nilai, dan keterangan kelulusan siswa. Huruf "f" disebut f-string, yang memungkinkan kita memasukkan nilai variabel ke dalam teks menggunakan tanda kurung kurawal "{}". Sementara itu, "{nama:&lt;4}" digunakan untuk mengatur nama agar rata kiri dengan lebar minimal empat karakter, dan tanda "|" berfungsi sebagai pemisah agar hasilnya lebih mudah dibaca.</a:t>
            </a:r>
          </a:p>
        </p:txBody>
      </p:sp>
    </p:spTree>
  </p:cSld>
  <p:clrMapOvr>
    <a:masterClrMapping/>
  </p:clrMapOvr>
  <p:transition spd="fast">
    <p:fade/>
  </p:transition>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0385E"/>
        </a:solidFill>
      </p:bgPr>
    </p:bg>
    <p:spTree>
      <p:nvGrpSpPr>
        <p:cNvPr id="1" name=""/>
        <p:cNvGrpSpPr/>
        <p:nvPr/>
      </p:nvGrpSpPr>
      <p:grpSpPr>
        <a:xfrm>
          <a:off x="0" y="0"/>
          <a:ext cx="0" cy="0"/>
          <a:chOff x="0" y="0"/>
          <a:chExt cx="0" cy="0"/>
        </a:xfrm>
      </p:grpSpPr>
      <p:sp>
        <p:nvSpPr>
          <p:cNvPr name="Freeform 2" id="2"/>
          <p:cNvSpPr/>
          <p:nvPr/>
        </p:nvSpPr>
        <p:spPr>
          <a:xfrm flipH="false" flipV="false" rot="0">
            <a:off x="14889959" y="-1905586"/>
            <a:ext cx="5043482" cy="5175215"/>
          </a:xfrm>
          <a:custGeom>
            <a:avLst/>
            <a:gdLst/>
            <a:ahLst/>
            <a:cxnLst/>
            <a:rect r="r" b="b" t="t" l="l"/>
            <a:pathLst>
              <a:path h="5175215" w="5043482">
                <a:moveTo>
                  <a:pt x="0" y="0"/>
                </a:moveTo>
                <a:lnTo>
                  <a:pt x="5043482" y="0"/>
                </a:lnTo>
                <a:lnTo>
                  <a:pt x="5043482" y="5175215"/>
                </a:lnTo>
                <a:lnTo>
                  <a:pt x="0" y="5175215"/>
                </a:lnTo>
                <a:lnTo>
                  <a:pt x="0" y="0"/>
                </a:lnTo>
                <a:close/>
              </a:path>
            </a:pathLst>
          </a:custGeom>
          <a:blipFill>
            <a:blip r:embed="rId2">
              <a:alphaModFix amt="12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93041" y="7044503"/>
            <a:ext cx="5043482" cy="5175215"/>
          </a:xfrm>
          <a:custGeom>
            <a:avLst/>
            <a:gdLst/>
            <a:ahLst/>
            <a:cxnLst/>
            <a:rect r="r" b="b" t="t" l="l"/>
            <a:pathLst>
              <a:path h="5175215" w="5043482">
                <a:moveTo>
                  <a:pt x="0" y="0"/>
                </a:moveTo>
                <a:lnTo>
                  <a:pt x="5043482" y="0"/>
                </a:lnTo>
                <a:lnTo>
                  <a:pt x="5043482" y="5175215"/>
                </a:lnTo>
                <a:lnTo>
                  <a:pt x="0" y="5175215"/>
                </a:lnTo>
                <a:lnTo>
                  <a:pt x="0" y="0"/>
                </a:lnTo>
                <a:close/>
              </a:path>
            </a:pathLst>
          </a:custGeom>
          <a:blipFill>
            <a:blip r:embed="rId2">
              <a:alphaModFix amt="12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28700" y="2255779"/>
            <a:ext cx="14118853" cy="7493270"/>
          </a:xfrm>
          <a:custGeom>
            <a:avLst/>
            <a:gdLst/>
            <a:ahLst/>
            <a:cxnLst/>
            <a:rect r="r" b="b" t="t" l="l"/>
            <a:pathLst>
              <a:path h="7493270" w="14118853">
                <a:moveTo>
                  <a:pt x="0" y="0"/>
                </a:moveTo>
                <a:lnTo>
                  <a:pt x="14118853" y="0"/>
                </a:lnTo>
                <a:lnTo>
                  <a:pt x="14118853" y="7493270"/>
                </a:lnTo>
                <a:lnTo>
                  <a:pt x="0" y="7493270"/>
                </a:lnTo>
                <a:lnTo>
                  <a:pt x="0" y="0"/>
                </a:lnTo>
                <a:close/>
              </a:path>
            </a:pathLst>
          </a:custGeom>
          <a:blipFill>
            <a:blip r:embed="rId4"/>
            <a:stretch>
              <a:fillRect l="0" t="-7566" r="0" b="-13364"/>
            </a:stretch>
          </a:blipFill>
        </p:spPr>
      </p:sp>
      <p:grpSp>
        <p:nvGrpSpPr>
          <p:cNvPr name="Group 5" id="5"/>
          <p:cNvGrpSpPr/>
          <p:nvPr/>
        </p:nvGrpSpPr>
        <p:grpSpPr>
          <a:xfrm rot="0">
            <a:off x="14364170" y="241075"/>
            <a:ext cx="3647736" cy="3647736"/>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8815" y="0"/>
                  </a:moveTo>
                  <a:lnTo>
                    <a:pt x="763985" y="0"/>
                  </a:lnTo>
                  <a:cubicBezTo>
                    <a:pt x="776932" y="0"/>
                    <a:pt x="789348" y="5143"/>
                    <a:pt x="798502" y="14298"/>
                  </a:cubicBezTo>
                  <a:cubicBezTo>
                    <a:pt x="807657" y="23452"/>
                    <a:pt x="812800" y="35868"/>
                    <a:pt x="812800" y="48815"/>
                  </a:cubicBezTo>
                  <a:lnTo>
                    <a:pt x="812800" y="763985"/>
                  </a:lnTo>
                  <a:cubicBezTo>
                    <a:pt x="812800" y="776932"/>
                    <a:pt x="807657" y="789348"/>
                    <a:pt x="798502" y="798502"/>
                  </a:cubicBezTo>
                  <a:cubicBezTo>
                    <a:pt x="789348" y="807657"/>
                    <a:pt x="776932" y="812800"/>
                    <a:pt x="763985" y="812800"/>
                  </a:cubicBezTo>
                  <a:lnTo>
                    <a:pt x="48815" y="812800"/>
                  </a:lnTo>
                  <a:cubicBezTo>
                    <a:pt x="35868" y="812800"/>
                    <a:pt x="23452" y="807657"/>
                    <a:pt x="14298" y="798502"/>
                  </a:cubicBezTo>
                  <a:cubicBezTo>
                    <a:pt x="5143" y="789348"/>
                    <a:pt x="0" y="776932"/>
                    <a:pt x="0" y="763985"/>
                  </a:cubicBezTo>
                  <a:lnTo>
                    <a:pt x="0" y="48815"/>
                  </a:lnTo>
                  <a:cubicBezTo>
                    <a:pt x="0" y="35868"/>
                    <a:pt x="5143" y="23452"/>
                    <a:pt x="14298" y="14298"/>
                  </a:cubicBezTo>
                  <a:cubicBezTo>
                    <a:pt x="23452" y="5143"/>
                    <a:pt x="35868" y="0"/>
                    <a:pt x="48815" y="0"/>
                  </a:cubicBezTo>
                  <a:close/>
                </a:path>
              </a:pathLst>
            </a:custGeom>
            <a:blipFill>
              <a:blip r:embed="rId5"/>
              <a:stretch>
                <a:fillRect l="-24931" t="0" r="-24931" b="0"/>
              </a:stretch>
            </a:blipFill>
          </p:spPr>
        </p:sp>
      </p:grpSp>
      <p:sp>
        <p:nvSpPr>
          <p:cNvPr name="TextBox 7" id="7"/>
          <p:cNvSpPr txBox="true"/>
          <p:nvPr/>
        </p:nvSpPr>
        <p:spPr>
          <a:xfrm rot="0">
            <a:off x="1028700" y="1104900"/>
            <a:ext cx="11446464" cy="679450"/>
          </a:xfrm>
          <a:prstGeom prst="rect">
            <a:avLst/>
          </a:prstGeom>
        </p:spPr>
        <p:txBody>
          <a:bodyPr anchor="t" rtlCol="false" tIns="0" lIns="0" bIns="0" rIns="0">
            <a:spAutoFit/>
          </a:bodyPr>
          <a:lstStyle/>
          <a:p>
            <a:pPr algn="l">
              <a:lnSpc>
                <a:spcPts val="5000"/>
              </a:lnSpc>
            </a:pPr>
            <a:r>
              <a:rPr lang="en-US" sz="5000" spc="140" b="true">
                <a:solidFill>
                  <a:srgbClr val="FFFFFF"/>
                </a:solidFill>
                <a:latin typeface="Tomorrow Bold"/>
                <a:ea typeface="Tomorrow Bold"/>
                <a:cs typeface="Tomorrow Bold"/>
                <a:sym typeface="Tomorrow Bold"/>
              </a:rPr>
              <a:t>Algoritma</a:t>
            </a:r>
          </a:p>
        </p:txBody>
      </p:sp>
      <p:sp>
        <p:nvSpPr>
          <p:cNvPr name="TextBox 8" id="8"/>
          <p:cNvSpPr txBox="true"/>
          <p:nvPr/>
        </p:nvSpPr>
        <p:spPr>
          <a:xfrm rot="0">
            <a:off x="1296407" y="2472690"/>
            <a:ext cx="13593552" cy="6238447"/>
          </a:xfrm>
          <a:prstGeom prst="rect">
            <a:avLst/>
          </a:prstGeom>
        </p:spPr>
        <p:txBody>
          <a:bodyPr anchor="t" rtlCol="false" tIns="0" lIns="0" bIns="0" rIns="0">
            <a:spAutoFit/>
          </a:bodyPr>
          <a:lstStyle/>
          <a:p>
            <a:pPr algn="l">
              <a:lnSpc>
                <a:spcPts val="3812"/>
              </a:lnSpc>
            </a:pPr>
            <a:r>
              <a:rPr lang="en-US" sz="2723" spc="215">
                <a:solidFill>
                  <a:srgbClr val="FFFFFF"/>
                </a:solidFill>
                <a:latin typeface="Pattanakarn"/>
                <a:ea typeface="Pattanakarn"/>
                <a:cs typeface="Pattanakarn"/>
                <a:sym typeface="Pattanakarn"/>
              </a:rPr>
              <a:t>1. mulai</a:t>
            </a:r>
          </a:p>
          <a:p>
            <a:pPr algn="l">
              <a:lnSpc>
                <a:spcPts val="3812"/>
              </a:lnSpc>
            </a:pPr>
            <a:r>
              <a:rPr lang="en-US" sz="2723" spc="215">
                <a:solidFill>
                  <a:srgbClr val="FFFFFF"/>
                </a:solidFill>
                <a:latin typeface="Pattanakarn"/>
                <a:ea typeface="Pattanakarn"/>
                <a:cs typeface="Pattanakarn"/>
                <a:sym typeface="Pattanakarn"/>
              </a:rPr>
              <a:t>2. masukan data siswa yang berisi nama dan nilai, tentukan nilai kkm</a:t>
            </a:r>
          </a:p>
          <a:p>
            <a:pPr algn="l">
              <a:lnSpc>
                <a:spcPts val="3812"/>
              </a:lnSpc>
            </a:pPr>
            <a:r>
              <a:rPr lang="en-US" sz="2723" spc="215">
                <a:solidFill>
                  <a:srgbClr val="FFFFFF"/>
                </a:solidFill>
                <a:latin typeface="Pattanakarn"/>
                <a:ea typeface="Pattanakarn"/>
                <a:cs typeface="Pattanakarn"/>
                <a:sym typeface="Pattanakarn"/>
              </a:rPr>
              <a:t>3. tampilkan teks "Data Nilai Siswa"</a:t>
            </a:r>
          </a:p>
          <a:p>
            <a:pPr algn="l">
              <a:lnSpc>
                <a:spcPts val="3812"/>
              </a:lnSpc>
            </a:pPr>
            <a:r>
              <a:rPr lang="en-US" sz="2723" spc="215">
                <a:solidFill>
                  <a:srgbClr val="FFFFFF"/>
                </a:solidFill>
                <a:latin typeface="Pattanakarn"/>
                <a:ea typeface="Pattanakarn"/>
                <a:cs typeface="Pattanakarn"/>
                <a:sym typeface="Pattanakarn"/>
              </a:rPr>
              <a:t>4. proses perulangan (for Loop:</a:t>
            </a:r>
          </a:p>
          <a:p>
            <a:pPr algn="l">
              <a:lnSpc>
                <a:spcPts val="3812"/>
              </a:lnSpc>
            </a:pPr>
            <a:r>
              <a:rPr lang="en-US" sz="2723" spc="215">
                <a:solidFill>
                  <a:srgbClr val="FFFFFF"/>
                </a:solidFill>
                <a:latin typeface="Pattanakarn"/>
                <a:ea typeface="Pattanakarn"/>
                <a:cs typeface="Pattanakarn"/>
                <a:sym typeface="Pattanakarn"/>
              </a:rPr>
              <a:t>Ambil nama: simpan nilai dari kunci "nama" ke dalam variabel "nama"</a:t>
            </a:r>
          </a:p>
          <a:p>
            <a:pPr algn="l">
              <a:lnSpc>
                <a:spcPts val="3812"/>
              </a:lnSpc>
            </a:pPr>
            <a:r>
              <a:rPr lang="en-US" sz="2723" spc="215">
                <a:solidFill>
                  <a:srgbClr val="FFFFFF"/>
                </a:solidFill>
                <a:latin typeface="Pattanakarn"/>
                <a:ea typeface="Pattanakarn"/>
                <a:cs typeface="Pattanakarn"/>
                <a:sym typeface="Pattanakarn"/>
              </a:rPr>
              <a:t>Ambil nilai: simpan nilai dari kunci "nilai" kedalam variable "nilai"</a:t>
            </a:r>
          </a:p>
          <a:p>
            <a:pPr algn="l">
              <a:lnSpc>
                <a:spcPts val="3812"/>
              </a:lnSpc>
            </a:pPr>
            <a:r>
              <a:rPr lang="en-US" sz="2723" spc="215">
                <a:solidFill>
                  <a:srgbClr val="FFFFFF"/>
                </a:solidFill>
                <a:latin typeface="Pattanakarn"/>
                <a:ea typeface="Pattanakarn"/>
                <a:cs typeface="Pattanakarn"/>
                <a:sym typeface="Pattanakarn"/>
              </a:rPr>
              <a:t>Percabangan (If-Else):</a:t>
            </a:r>
          </a:p>
          <a:p>
            <a:pPr algn="l">
              <a:lnSpc>
                <a:spcPts val="3812"/>
              </a:lnSpc>
            </a:pPr>
            <a:r>
              <a:rPr lang="en-US" sz="2723" spc="215">
                <a:solidFill>
                  <a:srgbClr val="FFFFFF"/>
                </a:solidFill>
                <a:latin typeface="Pattanakarn"/>
                <a:ea typeface="Pattanakarn"/>
                <a:cs typeface="Pattanakarn"/>
                <a:sym typeface="Pattanakarn"/>
              </a:rPr>
              <a:t>Apakah nilai &gt; kkm?</a:t>
            </a:r>
          </a:p>
          <a:p>
            <a:pPr algn="l">
              <a:lnSpc>
                <a:spcPts val="3812"/>
              </a:lnSpc>
            </a:pPr>
            <a:r>
              <a:rPr lang="en-US" sz="2723" spc="215">
                <a:solidFill>
                  <a:srgbClr val="FFFFFF"/>
                </a:solidFill>
                <a:latin typeface="Pattanakarn"/>
                <a:ea typeface="Pattanakarn"/>
                <a:cs typeface="Pattanakarn"/>
                <a:sym typeface="Pattanakarn"/>
              </a:rPr>
              <a:t>Jika Ya, setting keterangan = "Lulus"</a:t>
            </a:r>
          </a:p>
          <a:p>
            <a:pPr algn="l">
              <a:lnSpc>
                <a:spcPts val="3812"/>
              </a:lnSpc>
            </a:pPr>
            <a:r>
              <a:rPr lang="en-US" sz="2723" spc="215">
                <a:solidFill>
                  <a:srgbClr val="FFFFFF"/>
                </a:solidFill>
                <a:latin typeface="Pattanakarn"/>
                <a:ea typeface="Pattanakarn"/>
                <a:cs typeface="Pattanakarn"/>
                <a:sym typeface="Pattanakarn"/>
              </a:rPr>
              <a:t>Jika Tidak, setting keterangan = "Tidak Lulus"</a:t>
            </a:r>
          </a:p>
          <a:p>
            <a:pPr algn="l">
              <a:lnSpc>
                <a:spcPts val="3812"/>
              </a:lnSpc>
            </a:pPr>
            <a:r>
              <a:rPr lang="en-US" sz="2723" spc="215">
                <a:solidFill>
                  <a:srgbClr val="FFFFFF"/>
                </a:solidFill>
                <a:latin typeface="Pattanakarn"/>
                <a:ea typeface="Pattanakarn"/>
                <a:cs typeface="Pattanakarn"/>
                <a:sym typeface="Pattanakarn"/>
              </a:rPr>
              <a:t>Output: tampilkan nama, nilai dan keterangan </a:t>
            </a:r>
          </a:p>
          <a:p>
            <a:pPr algn="l">
              <a:lnSpc>
                <a:spcPts val="3812"/>
              </a:lnSpc>
            </a:pPr>
            <a:r>
              <a:rPr lang="en-US" sz="2723" spc="215">
                <a:solidFill>
                  <a:srgbClr val="FFFFFF"/>
                </a:solidFill>
                <a:latin typeface="Pattanakarn"/>
                <a:ea typeface="Pattanakarn"/>
                <a:cs typeface="Pattanakarn"/>
                <a:sym typeface="Pattanakarn"/>
              </a:rPr>
              <a:t>5. selesai (perulangan selesai setelah semua nilai diperiksa)</a:t>
            </a:r>
          </a:p>
        </p:txBody>
      </p:sp>
    </p:spTree>
  </p:cSld>
  <p:clrMapOvr>
    <a:masterClrMapping/>
  </p:clrMapOvr>
  <p:transition spd="fast">
    <p:fade/>
  </p:transition>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0385E"/>
        </a:solidFill>
      </p:bgPr>
    </p:bg>
    <p:spTree>
      <p:nvGrpSpPr>
        <p:cNvPr id="1" name=""/>
        <p:cNvGrpSpPr/>
        <p:nvPr/>
      </p:nvGrpSpPr>
      <p:grpSpPr>
        <a:xfrm>
          <a:off x="0" y="0"/>
          <a:ext cx="0" cy="0"/>
          <a:chOff x="0" y="0"/>
          <a:chExt cx="0" cy="0"/>
        </a:xfrm>
      </p:grpSpPr>
      <p:sp>
        <p:nvSpPr>
          <p:cNvPr name="Freeform 2" id="2"/>
          <p:cNvSpPr/>
          <p:nvPr/>
        </p:nvSpPr>
        <p:spPr>
          <a:xfrm flipH="false" flipV="false" rot="0">
            <a:off x="-3170238" y="196001"/>
            <a:ext cx="16027904" cy="10287000"/>
          </a:xfrm>
          <a:custGeom>
            <a:avLst/>
            <a:gdLst/>
            <a:ahLst/>
            <a:cxnLst/>
            <a:rect r="r" b="b" t="t" l="l"/>
            <a:pathLst>
              <a:path h="10287000" w="16027904">
                <a:moveTo>
                  <a:pt x="0" y="0"/>
                </a:moveTo>
                <a:lnTo>
                  <a:pt x="16027904" y="0"/>
                </a:lnTo>
                <a:lnTo>
                  <a:pt x="16027904"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0678330" y="521598"/>
            <a:ext cx="7609670" cy="9243804"/>
            <a:chOff x="0" y="0"/>
            <a:chExt cx="5181854" cy="6294628"/>
          </a:xfrm>
        </p:grpSpPr>
        <p:sp>
          <p:nvSpPr>
            <p:cNvPr name="Freeform 4" id="4"/>
            <p:cNvSpPr/>
            <p:nvPr/>
          </p:nvSpPr>
          <p:spPr>
            <a:xfrm flipH="false" flipV="false" rot="0">
              <a:off x="38" y="-70"/>
              <a:ext cx="5181943" cy="6294824"/>
            </a:xfrm>
            <a:custGeom>
              <a:avLst/>
              <a:gdLst/>
              <a:ahLst/>
              <a:cxnLst/>
              <a:rect r="r" b="b" t="t" l="l"/>
              <a:pathLst>
                <a:path h="6294824" w="5181943">
                  <a:moveTo>
                    <a:pt x="5181689" y="911422"/>
                  </a:moveTo>
                  <a:cubicBezTo>
                    <a:pt x="5181689" y="750767"/>
                    <a:pt x="5053292" y="591255"/>
                    <a:pt x="4896320" y="557092"/>
                  </a:cubicBezTo>
                  <a:lnTo>
                    <a:pt x="2373211" y="6928"/>
                  </a:lnTo>
                  <a:cubicBezTo>
                    <a:pt x="2216239" y="-27362"/>
                    <a:pt x="2045297" y="69031"/>
                    <a:pt x="1993481" y="221177"/>
                  </a:cubicBezTo>
                  <a:lnTo>
                    <a:pt x="14821" y="6018346"/>
                  </a:lnTo>
                  <a:cubicBezTo>
                    <a:pt x="-37122" y="6170365"/>
                    <a:pt x="51905" y="6294825"/>
                    <a:pt x="212560" y="6294825"/>
                  </a:cubicBezTo>
                  <a:lnTo>
                    <a:pt x="4889843" y="6294825"/>
                  </a:lnTo>
                  <a:cubicBezTo>
                    <a:pt x="5050498" y="6294825"/>
                    <a:pt x="5181943" y="6163380"/>
                    <a:pt x="5181943" y="6002725"/>
                  </a:cubicBezTo>
                  <a:lnTo>
                    <a:pt x="5181689" y="911422"/>
                  </a:lnTo>
                  <a:close/>
                </a:path>
              </a:pathLst>
            </a:custGeom>
            <a:blipFill>
              <a:blip r:embed="rId3"/>
              <a:stretch>
                <a:fillRect l="-33681" t="0" r="-48646" b="0"/>
              </a:stretch>
            </a:blipFill>
          </p:spPr>
        </p:sp>
      </p:grpSp>
      <p:sp>
        <p:nvSpPr>
          <p:cNvPr name="TextBox 5" id="5"/>
          <p:cNvSpPr txBox="true"/>
          <p:nvPr/>
        </p:nvSpPr>
        <p:spPr>
          <a:xfrm rot="0">
            <a:off x="1121937" y="1890969"/>
            <a:ext cx="5090641" cy="7877036"/>
          </a:xfrm>
          <a:prstGeom prst="rect">
            <a:avLst/>
          </a:prstGeom>
        </p:spPr>
        <p:txBody>
          <a:bodyPr anchor="t" rtlCol="false" tIns="0" lIns="0" bIns="0" rIns="0">
            <a:spAutoFit/>
          </a:bodyPr>
          <a:lstStyle/>
          <a:p>
            <a:pPr algn="l">
              <a:lnSpc>
                <a:spcPts val="1950"/>
              </a:lnSpc>
            </a:pPr>
            <a:r>
              <a:rPr lang="en-US" sz="1393" spc="110">
                <a:solidFill>
                  <a:srgbClr val="FFFFFF"/>
                </a:solidFill>
                <a:latin typeface="Pattanakarn"/>
                <a:ea typeface="Pattanakarn"/>
                <a:cs typeface="Pattanakarn"/>
                <a:sym typeface="Pattanakarn"/>
              </a:rPr>
              <a:t>START</a:t>
            </a:r>
          </a:p>
          <a:p>
            <a:pPr algn="l">
              <a:lnSpc>
                <a:spcPts val="1950"/>
              </a:lnSpc>
            </a:pPr>
          </a:p>
          <a:p>
            <a:pPr algn="l">
              <a:lnSpc>
                <a:spcPts val="1950"/>
              </a:lnSpc>
            </a:pPr>
            <a:r>
              <a:rPr lang="en-US" sz="1393" spc="110">
                <a:solidFill>
                  <a:srgbClr val="FFFFFF"/>
                </a:solidFill>
                <a:latin typeface="Pattanakarn"/>
                <a:ea typeface="Pattanakarn"/>
                <a:cs typeface="Pattanakarn"/>
                <a:sym typeface="Pattanakarn"/>
              </a:rPr>
              <a:t>    1.</a:t>
            </a:r>
            <a:r>
              <a:rPr lang="en-US" sz="1393" spc="110">
                <a:solidFill>
                  <a:srgbClr val="FFFFFF"/>
                </a:solidFill>
                <a:latin typeface="Pattanakarn"/>
                <a:ea typeface="Pattanakarn"/>
                <a:cs typeface="Pattanakarn"/>
                <a:sym typeface="Pattanakarn"/>
              </a:rPr>
              <a:t> Masukan Data dan Variabel</a:t>
            </a:r>
          </a:p>
          <a:p>
            <a:pPr algn="l">
              <a:lnSpc>
                <a:spcPts val="1950"/>
              </a:lnSpc>
            </a:pPr>
            <a:r>
              <a:rPr lang="en-US" sz="1393" spc="110">
                <a:solidFill>
                  <a:srgbClr val="FFFFFF"/>
                </a:solidFill>
                <a:latin typeface="Pattanakarn"/>
                <a:ea typeface="Pattanakarn"/>
                <a:cs typeface="Pattanakarn"/>
                <a:sym typeface="Pattanakarn"/>
              </a:rPr>
              <a:t>        data_siswa = [</a:t>
            </a:r>
          </a:p>
          <a:p>
            <a:pPr algn="l">
              <a:lnSpc>
                <a:spcPts val="1950"/>
              </a:lnSpc>
            </a:pPr>
            <a:r>
              <a:rPr lang="en-US" sz="1393" spc="110">
                <a:solidFill>
                  <a:srgbClr val="FFFFFF"/>
                </a:solidFill>
                <a:latin typeface="Pattanakarn"/>
                <a:ea typeface="Pattanakarn"/>
                <a:cs typeface="Pattanakarn"/>
                <a:sym typeface="Pattanakarn"/>
              </a:rPr>
              <a:t>        {"nama": "budi", "nilai": 83},</a:t>
            </a:r>
          </a:p>
          <a:p>
            <a:pPr algn="l">
              <a:lnSpc>
                <a:spcPts val="1950"/>
              </a:lnSpc>
            </a:pPr>
            <a:r>
              <a:rPr lang="en-US" sz="1393" spc="110">
                <a:solidFill>
                  <a:srgbClr val="FFFFFF"/>
                </a:solidFill>
                <a:latin typeface="Pattanakarn"/>
                <a:ea typeface="Pattanakarn"/>
                <a:cs typeface="Pattanakarn"/>
                <a:sym typeface="Pattanakarn"/>
              </a:rPr>
              <a:t>        {"nama": "anton", "nilai": 90},</a:t>
            </a:r>
          </a:p>
          <a:p>
            <a:pPr algn="l">
              <a:lnSpc>
                <a:spcPts val="1950"/>
              </a:lnSpc>
            </a:pPr>
            <a:r>
              <a:rPr lang="en-US" sz="1393" spc="110">
                <a:solidFill>
                  <a:srgbClr val="FFFFFF"/>
                </a:solidFill>
                <a:latin typeface="Pattanakarn"/>
                <a:ea typeface="Pattanakarn"/>
                <a:cs typeface="Pattanakarn"/>
                <a:sym typeface="Pattanakarn"/>
              </a:rPr>
              <a:t>        {"nama": "rara", "nilai": 76},</a:t>
            </a:r>
          </a:p>
          <a:p>
            <a:pPr algn="l">
              <a:lnSpc>
                <a:spcPts val="1950"/>
              </a:lnSpc>
            </a:pPr>
            <a:r>
              <a:rPr lang="en-US" sz="1393" spc="110">
                <a:solidFill>
                  <a:srgbClr val="FFFFFF"/>
                </a:solidFill>
                <a:latin typeface="Pattanakarn"/>
                <a:ea typeface="Pattanakarn"/>
                <a:cs typeface="Pattanakarn"/>
                <a:sym typeface="Pattanakarn"/>
              </a:rPr>
              <a:t>        {"nama": "fira", "nilai": 65}</a:t>
            </a:r>
          </a:p>
          <a:p>
            <a:pPr algn="l">
              <a:lnSpc>
                <a:spcPts val="1950"/>
              </a:lnSpc>
            </a:pPr>
            <a:r>
              <a:rPr lang="en-US" sz="1393" spc="110">
                <a:solidFill>
                  <a:srgbClr val="FFFFFF"/>
                </a:solidFill>
                <a:latin typeface="Pattanakarn"/>
                <a:ea typeface="Pattanakarn"/>
                <a:cs typeface="Pattanakarn"/>
                <a:sym typeface="Pattanakarn"/>
              </a:rPr>
              <a:t>    ]</a:t>
            </a:r>
          </a:p>
          <a:p>
            <a:pPr algn="l">
              <a:lnSpc>
                <a:spcPts val="1950"/>
              </a:lnSpc>
            </a:pPr>
            <a:r>
              <a:rPr lang="en-US" sz="1393" spc="110">
                <a:solidFill>
                  <a:srgbClr val="FFFFFF"/>
                </a:solidFill>
                <a:latin typeface="Pattanakarn"/>
                <a:ea typeface="Pattanakarn"/>
                <a:cs typeface="Pattanakarn"/>
                <a:sym typeface="Pattanakarn"/>
              </a:rPr>
              <a:t>    kkm = 75</a:t>
            </a:r>
          </a:p>
          <a:p>
            <a:pPr algn="l">
              <a:lnSpc>
                <a:spcPts val="1950"/>
              </a:lnSpc>
            </a:pPr>
          </a:p>
          <a:p>
            <a:pPr algn="l">
              <a:lnSpc>
                <a:spcPts val="1950"/>
              </a:lnSpc>
            </a:pPr>
            <a:r>
              <a:rPr lang="en-US" sz="1393" spc="110">
                <a:solidFill>
                  <a:srgbClr val="FFFFFF"/>
                </a:solidFill>
                <a:latin typeface="Pattanakarn"/>
                <a:ea typeface="Pattanakarn"/>
                <a:cs typeface="Pattanakarn"/>
                <a:sym typeface="Pattanakarn"/>
              </a:rPr>
              <a:t>    2. Cetak Judul</a:t>
            </a:r>
          </a:p>
          <a:p>
            <a:pPr algn="l">
              <a:lnSpc>
                <a:spcPts val="1950"/>
              </a:lnSpc>
            </a:pPr>
            <a:r>
              <a:rPr lang="en-US" sz="1393" spc="110">
                <a:solidFill>
                  <a:srgbClr val="FFFFFF"/>
                </a:solidFill>
                <a:latin typeface="Pattanakarn"/>
                <a:ea typeface="Pattanakarn"/>
                <a:cs typeface="Pattanakarn"/>
                <a:sym typeface="Pattanakarn"/>
              </a:rPr>
              <a:t>    PRINT "===Data Nilai Siswa==="</a:t>
            </a:r>
          </a:p>
          <a:p>
            <a:pPr algn="l">
              <a:lnSpc>
                <a:spcPts val="1950"/>
              </a:lnSpc>
            </a:pPr>
          </a:p>
          <a:p>
            <a:pPr algn="l">
              <a:lnSpc>
                <a:spcPts val="1950"/>
              </a:lnSpc>
            </a:pPr>
            <a:r>
              <a:rPr lang="en-US" sz="1393" spc="110">
                <a:solidFill>
                  <a:srgbClr val="FFFFFF"/>
                </a:solidFill>
                <a:latin typeface="Pattanakarn"/>
                <a:ea typeface="Pattanakarn"/>
                <a:cs typeface="Pattanakarn"/>
                <a:sym typeface="Pattanakarn"/>
              </a:rPr>
              <a:t>    3. Perulangan untuk setiap siswa</a:t>
            </a:r>
          </a:p>
          <a:p>
            <a:pPr algn="l">
              <a:lnSpc>
                <a:spcPts val="1950"/>
              </a:lnSpc>
            </a:pPr>
            <a:r>
              <a:rPr lang="en-US" sz="1393" spc="110">
                <a:solidFill>
                  <a:srgbClr val="FFFFFF"/>
                </a:solidFill>
                <a:latin typeface="Pattanakarn"/>
                <a:ea typeface="Pattanakarn"/>
                <a:cs typeface="Pattanakarn"/>
                <a:sym typeface="Pattanakarn"/>
              </a:rPr>
              <a:t>    FOR siswa IN data_siswa:</a:t>
            </a:r>
          </a:p>
          <a:p>
            <a:pPr algn="l">
              <a:lnSpc>
                <a:spcPts val="1950"/>
              </a:lnSpc>
            </a:pPr>
            <a:r>
              <a:rPr lang="en-US" sz="1393" spc="110">
                <a:solidFill>
                  <a:srgbClr val="FFFFFF"/>
                </a:solidFill>
                <a:latin typeface="Pattanakarn"/>
                <a:ea typeface="Pattanakarn"/>
                <a:cs typeface="Pattanakarn"/>
                <a:sym typeface="Pattanakarn"/>
              </a:rPr>
              <a:t>        SET nama = siswa["nama"]</a:t>
            </a:r>
          </a:p>
          <a:p>
            <a:pPr algn="l">
              <a:lnSpc>
                <a:spcPts val="1950"/>
              </a:lnSpc>
            </a:pPr>
            <a:r>
              <a:rPr lang="en-US" sz="1393" spc="110">
                <a:solidFill>
                  <a:srgbClr val="FFFFFF"/>
                </a:solidFill>
                <a:latin typeface="Pattanakarn"/>
                <a:ea typeface="Pattanakarn"/>
                <a:cs typeface="Pattanakarn"/>
                <a:sym typeface="Pattanakarn"/>
              </a:rPr>
              <a:t>        SET nilai = siswa["nilai"]</a:t>
            </a:r>
          </a:p>
          <a:p>
            <a:pPr algn="l">
              <a:lnSpc>
                <a:spcPts val="1950"/>
              </a:lnSpc>
            </a:pPr>
          </a:p>
          <a:p>
            <a:pPr algn="l">
              <a:lnSpc>
                <a:spcPts val="1950"/>
              </a:lnSpc>
            </a:pPr>
            <a:r>
              <a:rPr lang="en-US" sz="1393" spc="110">
                <a:solidFill>
                  <a:srgbClr val="FFFFFF"/>
                </a:solidFill>
                <a:latin typeface="Pattanakarn"/>
                <a:ea typeface="Pattanakarn"/>
                <a:cs typeface="Pattanakarn"/>
                <a:sym typeface="Pattanakarn"/>
              </a:rPr>
              <a:t> 4. Percabangan untuk menentukan kelulusan</a:t>
            </a:r>
          </a:p>
          <a:p>
            <a:pPr algn="l">
              <a:lnSpc>
                <a:spcPts val="1950"/>
              </a:lnSpc>
            </a:pPr>
            <a:r>
              <a:rPr lang="en-US" sz="1393" spc="110">
                <a:solidFill>
                  <a:srgbClr val="FFFFFF"/>
                </a:solidFill>
                <a:latin typeface="Pattanakarn"/>
                <a:ea typeface="Pattanakarn"/>
                <a:cs typeface="Pattanakarn"/>
                <a:sym typeface="Pattanakarn"/>
              </a:rPr>
              <a:t>        IF nilai &gt;= kkm THEN</a:t>
            </a:r>
          </a:p>
          <a:p>
            <a:pPr algn="l">
              <a:lnSpc>
                <a:spcPts val="1950"/>
              </a:lnSpc>
            </a:pPr>
            <a:r>
              <a:rPr lang="en-US" sz="1393" spc="110">
                <a:solidFill>
                  <a:srgbClr val="FFFFFF"/>
                </a:solidFill>
                <a:latin typeface="Pattanakarn"/>
                <a:ea typeface="Pattanakarn"/>
                <a:cs typeface="Pattanakarn"/>
                <a:sym typeface="Pattanakarn"/>
              </a:rPr>
              <a:t>            SET keterangan = "Lulus"</a:t>
            </a:r>
          </a:p>
          <a:p>
            <a:pPr algn="l">
              <a:lnSpc>
                <a:spcPts val="1950"/>
              </a:lnSpc>
            </a:pPr>
            <a:r>
              <a:rPr lang="en-US" sz="1393" spc="110">
                <a:solidFill>
                  <a:srgbClr val="FFFFFF"/>
                </a:solidFill>
                <a:latin typeface="Pattanakarn"/>
                <a:ea typeface="Pattanakarn"/>
                <a:cs typeface="Pattanakarn"/>
                <a:sym typeface="Pattanakarn"/>
              </a:rPr>
              <a:t>        ELSE</a:t>
            </a:r>
          </a:p>
          <a:p>
            <a:pPr algn="l">
              <a:lnSpc>
                <a:spcPts val="1950"/>
              </a:lnSpc>
            </a:pPr>
            <a:r>
              <a:rPr lang="en-US" sz="1393" spc="110">
                <a:solidFill>
                  <a:srgbClr val="FFFFFF"/>
                </a:solidFill>
                <a:latin typeface="Pattanakarn"/>
                <a:ea typeface="Pattanakarn"/>
                <a:cs typeface="Pattanakarn"/>
                <a:sym typeface="Pattanakarn"/>
              </a:rPr>
              <a:t>            SET keterangan = "Tidak Lulus"</a:t>
            </a:r>
          </a:p>
          <a:p>
            <a:pPr algn="l">
              <a:lnSpc>
                <a:spcPts val="1950"/>
              </a:lnSpc>
            </a:pPr>
            <a:r>
              <a:rPr lang="en-US" sz="1393" spc="110">
                <a:solidFill>
                  <a:srgbClr val="FFFFFF"/>
                </a:solidFill>
                <a:latin typeface="Pattanakarn"/>
                <a:ea typeface="Pattanakarn"/>
                <a:cs typeface="Pattanakarn"/>
                <a:sym typeface="Pattanakarn"/>
              </a:rPr>
              <a:t>        ENDIF</a:t>
            </a:r>
          </a:p>
          <a:p>
            <a:pPr algn="l">
              <a:lnSpc>
                <a:spcPts val="1950"/>
              </a:lnSpc>
            </a:pPr>
          </a:p>
          <a:p>
            <a:pPr algn="l">
              <a:lnSpc>
                <a:spcPts val="1950"/>
              </a:lnSpc>
            </a:pPr>
            <a:r>
              <a:rPr lang="en-US" sz="1393" spc="110">
                <a:solidFill>
                  <a:srgbClr val="FFFFFF"/>
                </a:solidFill>
                <a:latin typeface="Pattanakarn"/>
                <a:ea typeface="Pattanakarn"/>
                <a:cs typeface="Pattanakarn"/>
                <a:sym typeface="Pattanakarn"/>
              </a:rPr>
              <a:t>        5. Cetak hasil</a:t>
            </a:r>
          </a:p>
          <a:p>
            <a:pPr algn="l">
              <a:lnSpc>
                <a:spcPts val="1950"/>
              </a:lnSpc>
            </a:pPr>
            <a:r>
              <a:rPr lang="en-US" sz="1393" spc="110">
                <a:solidFill>
                  <a:srgbClr val="FFFFFF"/>
                </a:solidFill>
                <a:latin typeface="Pattanakarn"/>
                <a:ea typeface="Pattanakarn"/>
                <a:cs typeface="Pattanakarn"/>
                <a:sym typeface="Pattanakarn"/>
              </a:rPr>
              <a:t>        PRINT nama, nilai, keterangan</a:t>
            </a:r>
          </a:p>
          <a:p>
            <a:pPr algn="l">
              <a:lnSpc>
                <a:spcPts val="1950"/>
              </a:lnSpc>
            </a:pPr>
            <a:r>
              <a:rPr lang="en-US" sz="1393" spc="110">
                <a:solidFill>
                  <a:srgbClr val="FFFFFF"/>
                </a:solidFill>
                <a:latin typeface="Pattanakarn"/>
                <a:ea typeface="Pattanakarn"/>
                <a:cs typeface="Pattanakarn"/>
                <a:sym typeface="Pattanakarn"/>
              </a:rPr>
              <a:t>        </a:t>
            </a:r>
          </a:p>
          <a:p>
            <a:pPr algn="l">
              <a:lnSpc>
                <a:spcPts val="1950"/>
              </a:lnSpc>
            </a:pPr>
            <a:r>
              <a:rPr lang="en-US" sz="1393" spc="110">
                <a:solidFill>
                  <a:srgbClr val="FFFFFF"/>
                </a:solidFill>
                <a:latin typeface="Pattanakarn"/>
                <a:ea typeface="Pattanakarn"/>
                <a:cs typeface="Pattanakarn"/>
                <a:sym typeface="Pattanakarn"/>
              </a:rPr>
              <a:t>    ENDFOR</a:t>
            </a:r>
          </a:p>
          <a:p>
            <a:pPr algn="l">
              <a:lnSpc>
                <a:spcPts val="1950"/>
              </a:lnSpc>
            </a:pPr>
          </a:p>
          <a:p>
            <a:pPr algn="l">
              <a:lnSpc>
                <a:spcPts val="1950"/>
              </a:lnSpc>
            </a:pPr>
            <a:r>
              <a:rPr lang="en-US" sz="1393" spc="110">
                <a:solidFill>
                  <a:srgbClr val="FFFFFF"/>
                </a:solidFill>
                <a:latin typeface="Pattanakarn"/>
                <a:ea typeface="Pattanakarn"/>
                <a:cs typeface="Pattanakarn"/>
                <a:sym typeface="Pattanakarn"/>
              </a:rPr>
              <a:t>END</a:t>
            </a:r>
          </a:p>
        </p:txBody>
      </p:sp>
      <p:sp>
        <p:nvSpPr>
          <p:cNvPr name="TextBox 6" id="6"/>
          <p:cNvSpPr txBox="true"/>
          <p:nvPr/>
        </p:nvSpPr>
        <p:spPr>
          <a:xfrm rot="0">
            <a:off x="1028700" y="1104900"/>
            <a:ext cx="8115300" cy="679450"/>
          </a:xfrm>
          <a:prstGeom prst="rect">
            <a:avLst/>
          </a:prstGeom>
        </p:spPr>
        <p:txBody>
          <a:bodyPr anchor="t" rtlCol="false" tIns="0" lIns="0" bIns="0" rIns="0">
            <a:spAutoFit/>
          </a:bodyPr>
          <a:lstStyle/>
          <a:p>
            <a:pPr algn="l">
              <a:lnSpc>
                <a:spcPts val="5000"/>
              </a:lnSpc>
            </a:pPr>
            <a:r>
              <a:rPr lang="en-US" sz="5000" spc="140" b="true">
                <a:solidFill>
                  <a:srgbClr val="FFFFFF"/>
                </a:solidFill>
                <a:latin typeface="Tomorrow Bold"/>
                <a:ea typeface="Tomorrow Bold"/>
                <a:cs typeface="Tomorrow Bold"/>
                <a:sym typeface="Tomorrow Bold"/>
              </a:rPr>
              <a:t>Pseudocode</a:t>
            </a:r>
          </a:p>
        </p:txBody>
      </p:sp>
    </p:spTree>
  </p:cSld>
  <p:clrMapOvr>
    <a:masterClrMapping/>
  </p:clrMapOvr>
  <p:transition spd="fast">
    <p:fade/>
  </p:transition>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0385E"/>
        </a:solidFill>
      </p:bgPr>
    </p:bg>
    <p:spTree>
      <p:nvGrpSpPr>
        <p:cNvPr id="1" name=""/>
        <p:cNvGrpSpPr/>
        <p:nvPr/>
      </p:nvGrpSpPr>
      <p:grpSpPr>
        <a:xfrm>
          <a:off x="0" y="0"/>
          <a:ext cx="0" cy="0"/>
          <a:chOff x="0" y="0"/>
          <a:chExt cx="0" cy="0"/>
        </a:xfrm>
      </p:grpSpPr>
      <p:sp>
        <p:nvSpPr>
          <p:cNvPr name="Freeform 2" id="2"/>
          <p:cNvSpPr/>
          <p:nvPr/>
        </p:nvSpPr>
        <p:spPr>
          <a:xfrm flipH="false" flipV="false" rot="0">
            <a:off x="14413269" y="6670693"/>
            <a:ext cx="5043482" cy="5175215"/>
          </a:xfrm>
          <a:custGeom>
            <a:avLst/>
            <a:gdLst/>
            <a:ahLst/>
            <a:cxnLst/>
            <a:rect r="r" b="b" t="t" l="l"/>
            <a:pathLst>
              <a:path h="5175215" w="5043482">
                <a:moveTo>
                  <a:pt x="0" y="0"/>
                </a:moveTo>
                <a:lnTo>
                  <a:pt x="5043482" y="0"/>
                </a:lnTo>
                <a:lnTo>
                  <a:pt x="5043482" y="5175214"/>
                </a:lnTo>
                <a:lnTo>
                  <a:pt x="0" y="5175214"/>
                </a:lnTo>
                <a:lnTo>
                  <a:pt x="0" y="0"/>
                </a:lnTo>
                <a:close/>
              </a:path>
            </a:pathLst>
          </a:custGeom>
          <a:blipFill>
            <a:blip r:embed="rId2">
              <a:alphaModFix amt="12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978592" y="2186676"/>
            <a:ext cx="5043482" cy="5175215"/>
          </a:xfrm>
          <a:custGeom>
            <a:avLst/>
            <a:gdLst/>
            <a:ahLst/>
            <a:cxnLst/>
            <a:rect r="r" b="b" t="t" l="l"/>
            <a:pathLst>
              <a:path h="5175215" w="5043482">
                <a:moveTo>
                  <a:pt x="0" y="0"/>
                </a:moveTo>
                <a:lnTo>
                  <a:pt x="5043482" y="0"/>
                </a:lnTo>
                <a:lnTo>
                  <a:pt x="5043482" y="5175215"/>
                </a:lnTo>
                <a:lnTo>
                  <a:pt x="0" y="5175215"/>
                </a:lnTo>
                <a:lnTo>
                  <a:pt x="0" y="0"/>
                </a:lnTo>
                <a:close/>
              </a:path>
            </a:pathLst>
          </a:custGeom>
          <a:blipFill>
            <a:blip r:embed="rId2">
              <a:alphaModFix amt="12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28700" y="7870259"/>
            <a:ext cx="2162671" cy="1388041"/>
          </a:xfrm>
          <a:custGeom>
            <a:avLst/>
            <a:gdLst/>
            <a:ahLst/>
            <a:cxnLst/>
            <a:rect r="r" b="b" t="t" l="l"/>
            <a:pathLst>
              <a:path h="1388041" w="2162671">
                <a:moveTo>
                  <a:pt x="0" y="0"/>
                </a:moveTo>
                <a:lnTo>
                  <a:pt x="2162671" y="0"/>
                </a:lnTo>
                <a:lnTo>
                  <a:pt x="2162671" y="1388041"/>
                </a:lnTo>
                <a:lnTo>
                  <a:pt x="0" y="1388041"/>
                </a:lnTo>
                <a:lnTo>
                  <a:pt x="0" y="0"/>
                </a:lnTo>
                <a:close/>
              </a:path>
            </a:pathLst>
          </a:custGeom>
          <a:blipFill>
            <a:blip r:embed="rId4"/>
            <a:stretch>
              <a:fillRect l="0" t="0" r="0" b="0"/>
            </a:stretch>
          </a:blipFill>
        </p:spPr>
      </p:sp>
      <p:sp>
        <p:nvSpPr>
          <p:cNvPr name="Freeform 5" id="5"/>
          <p:cNvSpPr/>
          <p:nvPr/>
        </p:nvSpPr>
        <p:spPr>
          <a:xfrm flipH="false" flipV="false" rot="0">
            <a:off x="15086541" y="1028700"/>
            <a:ext cx="2172759" cy="1394516"/>
          </a:xfrm>
          <a:custGeom>
            <a:avLst/>
            <a:gdLst/>
            <a:ahLst/>
            <a:cxnLst/>
            <a:rect r="r" b="b" t="t" l="l"/>
            <a:pathLst>
              <a:path h="1394516" w="2172759">
                <a:moveTo>
                  <a:pt x="0" y="0"/>
                </a:moveTo>
                <a:lnTo>
                  <a:pt x="2172759" y="0"/>
                </a:lnTo>
                <a:lnTo>
                  <a:pt x="2172759" y="1394516"/>
                </a:lnTo>
                <a:lnTo>
                  <a:pt x="0" y="1394516"/>
                </a:lnTo>
                <a:lnTo>
                  <a:pt x="0" y="0"/>
                </a:lnTo>
                <a:close/>
              </a:path>
            </a:pathLst>
          </a:custGeom>
          <a:blipFill>
            <a:blip r:embed="rId4"/>
            <a:stretch>
              <a:fillRect l="0" t="0" r="0" b="0"/>
            </a:stretch>
          </a:blipFill>
        </p:spPr>
      </p:sp>
      <p:sp>
        <p:nvSpPr>
          <p:cNvPr name="Freeform 6" id="6"/>
          <p:cNvSpPr/>
          <p:nvPr/>
        </p:nvSpPr>
        <p:spPr>
          <a:xfrm flipH="false" flipV="false" rot="0">
            <a:off x="12971252" y="5684548"/>
            <a:ext cx="5316748" cy="4371421"/>
          </a:xfrm>
          <a:custGeom>
            <a:avLst/>
            <a:gdLst/>
            <a:ahLst/>
            <a:cxnLst/>
            <a:rect r="r" b="b" t="t" l="l"/>
            <a:pathLst>
              <a:path h="4371421" w="5316748">
                <a:moveTo>
                  <a:pt x="0" y="0"/>
                </a:moveTo>
                <a:lnTo>
                  <a:pt x="5316748" y="0"/>
                </a:lnTo>
                <a:lnTo>
                  <a:pt x="5316748" y="4371421"/>
                </a:lnTo>
                <a:lnTo>
                  <a:pt x="0" y="437142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7" id="7"/>
          <p:cNvGrpSpPr/>
          <p:nvPr/>
        </p:nvGrpSpPr>
        <p:grpSpPr>
          <a:xfrm rot="0">
            <a:off x="5781796" y="1028700"/>
            <a:ext cx="5914567" cy="9027269"/>
            <a:chOff x="0" y="0"/>
            <a:chExt cx="1377305" cy="2102149"/>
          </a:xfrm>
        </p:grpSpPr>
        <p:sp>
          <p:nvSpPr>
            <p:cNvPr name="Freeform 8" id="8"/>
            <p:cNvSpPr/>
            <p:nvPr/>
          </p:nvSpPr>
          <p:spPr>
            <a:xfrm flipH="false" flipV="false" rot="0">
              <a:off x="0" y="0"/>
              <a:ext cx="1377305" cy="2102149"/>
            </a:xfrm>
            <a:custGeom>
              <a:avLst/>
              <a:gdLst/>
              <a:ahLst/>
              <a:cxnLst/>
              <a:rect r="r" b="b" t="t" l="l"/>
              <a:pathLst>
                <a:path h="2102149" w="1377305">
                  <a:moveTo>
                    <a:pt x="0" y="0"/>
                  </a:moveTo>
                  <a:lnTo>
                    <a:pt x="1377305" y="0"/>
                  </a:lnTo>
                  <a:lnTo>
                    <a:pt x="1377305" y="2102149"/>
                  </a:lnTo>
                  <a:lnTo>
                    <a:pt x="0" y="2102149"/>
                  </a:lnTo>
                  <a:close/>
                </a:path>
              </a:pathLst>
            </a:custGeom>
            <a:blipFill>
              <a:blip r:embed="rId7"/>
              <a:stretch>
                <a:fillRect l="-6266" t="0" r="-6266" b="0"/>
              </a:stretch>
            </a:blipFill>
          </p:spPr>
        </p:sp>
      </p:grpSp>
      <p:sp>
        <p:nvSpPr>
          <p:cNvPr name="TextBox 9" id="9"/>
          <p:cNvSpPr txBox="true"/>
          <p:nvPr/>
        </p:nvSpPr>
        <p:spPr>
          <a:xfrm rot="0">
            <a:off x="6948393" y="349250"/>
            <a:ext cx="3584199" cy="679450"/>
          </a:xfrm>
          <a:prstGeom prst="rect">
            <a:avLst/>
          </a:prstGeom>
        </p:spPr>
        <p:txBody>
          <a:bodyPr anchor="t" rtlCol="false" tIns="0" lIns="0" bIns="0" rIns="0">
            <a:spAutoFit/>
          </a:bodyPr>
          <a:lstStyle/>
          <a:p>
            <a:pPr algn="l">
              <a:lnSpc>
                <a:spcPts val="5000"/>
              </a:lnSpc>
            </a:pPr>
            <a:r>
              <a:rPr lang="en-US" sz="5000" spc="140" b="true">
                <a:solidFill>
                  <a:srgbClr val="FFFFFF"/>
                </a:solidFill>
                <a:latin typeface="Tomorrow Bold"/>
                <a:ea typeface="Tomorrow Bold"/>
                <a:cs typeface="Tomorrow Bold"/>
                <a:sym typeface="Tomorrow Bold"/>
              </a:rPr>
              <a:t>Flowchart</a:t>
            </a:r>
          </a:p>
        </p:txBody>
      </p:sp>
    </p:spTree>
  </p:cSld>
  <p:clrMapOvr>
    <a:masterClrMapping/>
  </p:clrMapOvr>
  <p:transition spd="fast">
    <p:fade/>
  </p:transition>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0385E"/>
        </a:solidFill>
      </p:bgPr>
    </p:bg>
    <p:spTree>
      <p:nvGrpSpPr>
        <p:cNvPr id="1" name=""/>
        <p:cNvGrpSpPr/>
        <p:nvPr/>
      </p:nvGrpSpPr>
      <p:grpSpPr>
        <a:xfrm>
          <a:off x="0" y="0"/>
          <a:ext cx="0" cy="0"/>
          <a:chOff x="0" y="0"/>
          <a:chExt cx="0" cy="0"/>
        </a:xfrm>
      </p:grpSpPr>
      <p:sp>
        <p:nvSpPr>
          <p:cNvPr name="Freeform 2" id="2"/>
          <p:cNvSpPr/>
          <p:nvPr/>
        </p:nvSpPr>
        <p:spPr>
          <a:xfrm flipH="false" flipV="false" rot="0">
            <a:off x="14413269" y="6670693"/>
            <a:ext cx="5043482" cy="5175215"/>
          </a:xfrm>
          <a:custGeom>
            <a:avLst/>
            <a:gdLst/>
            <a:ahLst/>
            <a:cxnLst/>
            <a:rect r="r" b="b" t="t" l="l"/>
            <a:pathLst>
              <a:path h="5175215" w="5043482">
                <a:moveTo>
                  <a:pt x="0" y="0"/>
                </a:moveTo>
                <a:lnTo>
                  <a:pt x="5043482" y="0"/>
                </a:lnTo>
                <a:lnTo>
                  <a:pt x="5043482" y="5175214"/>
                </a:lnTo>
                <a:lnTo>
                  <a:pt x="0" y="5175214"/>
                </a:lnTo>
                <a:lnTo>
                  <a:pt x="0" y="0"/>
                </a:lnTo>
                <a:close/>
              </a:path>
            </a:pathLst>
          </a:custGeom>
          <a:blipFill>
            <a:blip r:embed="rId2">
              <a:alphaModFix amt="12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3368414" y="3364783"/>
            <a:ext cx="11551172" cy="2769079"/>
            <a:chOff x="0" y="0"/>
            <a:chExt cx="1370349" cy="328504"/>
          </a:xfrm>
        </p:grpSpPr>
        <p:sp>
          <p:nvSpPr>
            <p:cNvPr name="Freeform 4" id="4"/>
            <p:cNvSpPr/>
            <p:nvPr/>
          </p:nvSpPr>
          <p:spPr>
            <a:xfrm flipH="false" flipV="false" rot="0">
              <a:off x="0" y="0"/>
              <a:ext cx="1370349" cy="328504"/>
            </a:xfrm>
            <a:custGeom>
              <a:avLst/>
              <a:gdLst/>
              <a:ahLst/>
              <a:cxnLst/>
              <a:rect r="r" b="b" t="t" l="l"/>
              <a:pathLst>
                <a:path h="328504" w="1370349">
                  <a:moveTo>
                    <a:pt x="49597" y="0"/>
                  </a:moveTo>
                  <a:lnTo>
                    <a:pt x="1320753" y="0"/>
                  </a:lnTo>
                  <a:cubicBezTo>
                    <a:pt x="1348144" y="0"/>
                    <a:pt x="1370349" y="22205"/>
                    <a:pt x="1370349" y="49597"/>
                  </a:cubicBezTo>
                  <a:lnTo>
                    <a:pt x="1370349" y="278907"/>
                  </a:lnTo>
                  <a:cubicBezTo>
                    <a:pt x="1370349" y="306299"/>
                    <a:pt x="1348144" y="328504"/>
                    <a:pt x="1320753" y="328504"/>
                  </a:cubicBezTo>
                  <a:lnTo>
                    <a:pt x="49597" y="328504"/>
                  </a:lnTo>
                  <a:cubicBezTo>
                    <a:pt x="22205" y="328504"/>
                    <a:pt x="0" y="306299"/>
                    <a:pt x="0" y="278907"/>
                  </a:cubicBezTo>
                  <a:lnTo>
                    <a:pt x="0" y="49597"/>
                  </a:lnTo>
                  <a:cubicBezTo>
                    <a:pt x="0" y="22205"/>
                    <a:pt x="22205" y="0"/>
                    <a:pt x="49597" y="0"/>
                  </a:cubicBezTo>
                  <a:close/>
                </a:path>
              </a:pathLst>
            </a:custGeom>
            <a:solidFill>
              <a:srgbClr val="FFFFFF"/>
            </a:solidFill>
            <a:ln w="47625" cap="rnd">
              <a:solidFill>
                <a:srgbClr val="FFFFFF"/>
              </a:solidFill>
              <a:prstDash val="solid"/>
              <a:round/>
            </a:ln>
          </p:spPr>
        </p:sp>
        <p:sp>
          <p:nvSpPr>
            <p:cNvPr name="TextBox 5" id="5"/>
            <p:cNvSpPr txBox="true"/>
            <p:nvPr/>
          </p:nvSpPr>
          <p:spPr>
            <a:xfrm>
              <a:off x="0" y="-47625"/>
              <a:ext cx="1370349" cy="376129"/>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150590" y="-1558907"/>
            <a:ext cx="5043482" cy="5175215"/>
          </a:xfrm>
          <a:custGeom>
            <a:avLst/>
            <a:gdLst/>
            <a:ahLst/>
            <a:cxnLst/>
            <a:rect r="r" b="b" t="t" l="l"/>
            <a:pathLst>
              <a:path h="5175215" w="5043482">
                <a:moveTo>
                  <a:pt x="0" y="0"/>
                </a:moveTo>
                <a:lnTo>
                  <a:pt x="5043482" y="0"/>
                </a:lnTo>
                <a:lnTo>
                  <a:pt x="5043482" y="5175214"/>
                </a:lnTo>
                <a:lnTo>
                  <a:pt x="0" y="5175214"/>
                </a:lnTo>
                <a:lnTo>
                  <a:pt x="0" y="0"/>
                </a:lnTo>
                <a:close/>
              </a:path>
            </a:pathLst>
          </a:custGeom>
          <a:blipFill>
            <a:blip r:embed="rId2">
              <a:alphaModFix amt="12000"/>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028700" y="7433828"/>
            <a:ext cx="2842662" cy="1824472"/>
          </a:xfrm>
          <a:custGeom>
            <a:avLst/>
            <a:gdLst/>
            <a:ahLst/>
            <a:cxnLst/>
            <a:rect r="r" b="b" t="t" l="l"/>
            <a:pathLst>
              <a:path h="1824472" w="2842662">
                <a:moveTo>
                  <a:pt x="0" y="0"/>
                </a:moveTo>
                <a:lnTo>
                  <a:pt x="2842662" y="0"/>
                </a:lnTo>
                <a:lnTo>
                  <a:pt x="2842662" y="1824472"/>
                </a:lnTo>
                <a:lnTo>
                  <a:pt x="0" y="1824472"/>
                </a:lnTo>
                <a:lnTo>
                  <a:pt x="0" y="0"/>
                </a:lnTo>
                <a:close/>
              </a:path>
            </a:pathLst>
          </a:custGeom>
          <a:blipFill>
            <a:blip r:embed="rId4"/>
            <a:stretch>
              <a:fillRect l="0" t="0" r="0" b="0"/>
            </a:stretch>
          </a:blipFill>
        </p:spPr>
      </p:sp>
      <p:sp>
        <p:nvSpPr>
          <p:cNvPr name="Freeform 8" id="8"/>
          <p:cNvSpPr/>
          <p:nvPr/>
        </p:nvSpPr>
        <p:spPr>
          <a:xfrm flipH="false" flipV="false" rot="0">
            <a:off x="14413269" y="1028700"/>
            <a:ext cx="2842662" cy="1824472"/>
          </a:xfrm>
          <a:custGeom>
            <a:avLst/>
            <a:gdLst/>
            <a:ahLst/>
            <a:cxnLst/>
            <a:rect r="r" b="b" t="t" l="l"/>
            <a:pathLst>
              <a:path h="1824472" w="2842662">
                <a:moveTo>
                  <a:pt x="0" y="0"/>
                </a:moveTo>
                <a:lnTo>
                  <a:pt x="2842663" y="0"/>
                </a:lnTo>
                <a:lnTo>
                  <a:pt x="2842663" y="1824472"/>
                </a:lnTo>
                <a:lnTo>
                  <a:pt x="0" y="1824472"/>
                </a:lnTo>
                <a:lnTo>
                  <a:pt x="0" y="0"/>
                </a:lnTo>
                <a:close/>
              </a:path>
            </a:pathLst>
          </a:custGeom>
          <a:blipFill>
            <a:blip r:embed="rId4"/>
            <a:stretch>
              <a:fillRect l="0" t="0" r="0" b="0"/>
            </a:stretch>
          </a:blipFill>
        </p:spPr>
      </p:sp>
      <p:sp>
        <p:nvSpPr>
          <p:cNvPr name="Freeform 9" id="9"/>
          <p:cNvSpPr/>
          <p:nvPr/>
        </p:nvSpPr>
        <p:spPr>
          <a:xfrm flipH="false" flipV="false" rot="0">
            <a:off x="6026717" y="5392493"/>
            <a:ext cx="6234565" cy="6583769"/>
          </a:xfrm>
          <a:custGeom>
            <a:avLst/>
            <a:gdLst/>
            <a:ahLst/>
            <a:cxnLst/>
            <a:rect r="r" b="b" t="t" l="l"/>
            <a:pathLst>
              <a:path h="6583769" w="6234565">
                <a:moveTo>
                  <a:pt x="0" y="0"/>
                </a:moveTo>
                <a:lnTo>
                  <a:pt x="6234566" y="0"/>
                </a:lnTo>
                <a:lnTo>
                  <a:pt x="6234566" y="6583769"/>
                </a:lnTo>
                <a:lnTo>
                  <a:pt x="0" y="658376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0" id="10"/>
          <p:cNvSpPr txBox="true"/>
          <p:nvPr/>
        </p:nvSpPr>
        <p:spPr>
          <a:xfrm rot="0">
            <a:off x="4533437" y="3944228"/>
            <a:ext cx="9221126" cy="1451642"/>
          </a:xfrm>
          <a:prstGeom prst="rect">
            <a:avLst/>
          </a:prstGeom>
        </p:spPr>
        <p:txBody>
          <a:bodyPr anchor="t" rtlCol="false" tIns="0" lIns="0" bIns="0" rIns="0">
            <a:spAutoFit/>
          </a:bodyPr>
          <a:lstStyle/>
          <a:p>
            <a:pPr algn="ctr">
              <a:lnSpc>
                <a:spcPts val="11859"/>
              </a:lnSpc>
            </a:pPr>
            <a:r>
              <a:rPr lang="en-US" b="true" sz="8470" spc="177">
                <a:solidFill>
                  <a:srgbClr val="00385E"/>
                </a:solidFill>
                <a:latin typeface="Pattanakarn Bold"/>
                <a:ea typeface="Pattanakarn Bold"/>
                <a:cs typeface="Pattanakarn Bold"/>
                <a:sym typeface="Pattanakarn Bold"/>
              </a:rPr>
              <a:t>THANK YOU</a:t>
            </a:r>
          </a:p>
        </p:txBody>
      </p:sp>
    </p:spTree>
  </p:cSld>
  <p:clrMapOvr>
    <a:masterClrMapping/>
  </p:clrMapOvr>
  <p:transition spd="fast">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DAHX45OMTYs</dc:identifier>
  <dcterms:modified xsi:type="dcterms:W3CDTF">2011-08-01T06:04:30Z</dcterms:modified>
  <cp:revision>1</cp:revision>
  <dc:title>Biru Putih Modern Pelatihan Coding Dasar Presentasi</dc:title>
</cp:coreProperties>
</file>